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solidFill>
                  <a:srgbClr val="1C2833"/>
                </a:solidFill>
              </a:defRPr>
            </a:pPr>
            <a:r>
              <a:t>Multi-Layer Graph Projections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BDC3C7"/>
                </a:solidFill>
              </a:defRPr>
            </a:pPr>
            <a:r>
              <a:t>Azure Tenant Grapher</a:t>
            </a:r>
          </a:p>
          <a:p>
            <a:r>
              <a:t>Scale Operations &amp; Layer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Data Loss from Scale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b="1" sz="2000"/>
            </a:pPr>
            <a:r>
              <a:t>Original Implementation (PR #435):</a:t>
            </a:r>
          </a:p>
          <a:p>
            <a:pPr lvl="1">
              <a:defRPr sz="1600"/>
            </a:pPr>
            <a:r>
              <a:t>Database degraded from 5,584 nodes to only 56 nodes (99% data loss)</a:t>
            </a:r>
          </a:p>
          <a:p>
            <a:pPr lvl="1">
              <a:defRPr sz="1600"/>
            </a:pPr>
            <a:r>
              <a:t>Scale-up and scale-down operations were DESTRUCTIVE</a:t>
            </a:r>
          </a:p>
          <a:p>
            <a:pPr lvl="1">
              <a:defRPr sz="1600"/>
            </a:pPr>
            <a:r>
              <a:t>Testing new features could corrupt production graph</a:t>
            </a:r>
          </a:p>
          <a:p>
            <a:pPr lvl="1">
              <a:defRPr sz="1600"/>
            </a:pPr>
            <a:r>
              <a:t>No way to experiment safely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Multi-Layer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b="1" sz="2000"/>
            </a:pPr>
            <a:r>
              <a:t>Multiple Independent Graph Layers:</a:t>
            </a:r>
          </a:p>
          <a:p>
            <a:pPr lvl="1">
              <a:defRPr sz="1600"/>
            </a:pPr>
            <a:r>
              <a:t>Original scan preserved FOREVER (5,584 nodes - immutable)</a:t>
            </a:r>
          </a:p>
          <a:p>
            <a:pPr lvl="1">
              <a:defRPr sz="1600"/>
            </a:pPr>
            <a:r>
              <a:t>Multiple abstracted layers can coexist</a:t>
            </a:r>
          </a:p>
          <a:p>
            <a:pPr lvl="1">
              <a:defRPr sz="1600"/>
            </a:pPr>
            <a:r>
              <a:t>One active layer at a time (like git branches)</a:t>
            </a:r>
          </a:p>
          <a:p>
            <a:pPr lvl="1">
              <a:defRPr sz="1600"/>
            </a:pPr>
            <a:r>
              <a:t>Modify one layer, others completely untouched</a:t>
            </a:r>
          </a:p>
          <a:p>
            <a:pPr lvl="1">
              <a:defRPr sz="1600"/>
            </a:pPr>
            <a:r>
              <a:t>Non-destructive scale operations with --new-layer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Three-Tier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800">
                <a:solidFill>
                  <a:srgbClr val="E74C3C"/>
                </a:solidFill>
              </a:defRPr>
            </a:pPr>
            <a:r>
              <a:t>Tier 1: Original Graph (:Resource:Original)</a:t>
            </a:r>
          </a:p>
          <a:p>
            <a:pPr lvl="1">
              <a:spcAft>
                <a:spcPts val="1200"/>
              </a:spcAft>
              <a:defRPr sz="1400"/>
            </a:pPr>
            <a:r>
              <a:t>5,584 nodes from Azure scan - IMMUTABLE, never modified</a:t>
            </a:r>
          </a:p>
          <a:p>
            <a:pPr>
              <a:defRPr b="1" sz="1800">
                <a:solidFill>
                  <a:srgbClr val="5EA8A7"/>
                </a:solidFill>
              </a:defRPr>
            </a:pPr>
            <a:r>
              <a:t>Tier 2: Layer Metadata (:Layer nodes)</a:t>
            </a:r>
          </a:p>
          <a:p>
            <a:pPr lvl="1">
              <a:spcAft>
                <a:spcPts val="1200"/>
              </a:spcAft>
              <a:defRPr sz="1400"/>
            </a:pPr>
            <a:r>
              <a:t>Tracks all layers with timestamps, counts, active status</a:t>
            </a:r>
          </a:p>
          <a:p>
            <a:pPr>
              <a:defRPr b="1" sz="1800">
                <a:solidFill>
                  <a:srgbClr val="1C2833"/>
                </a:solidFill>
              </a:defRPr>
            </a:pPr>
            <a:r>
              <a:t>Tier 3: Abstracted Layers (:Resource + layer_id)</a:t>
            </a:r>
          </a:p>
          <a:p>
            <a:pPr lvl="1">
              <a:defRPr sz="1400"/>
            </a:pPr>
            <a:r>
              <a:t>Multiple independent projections - default (56 nodes), experimental, etc.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Baseline Layer: Current State</a:t>
            </a:r>
          </a:p>
        </p:txBody>
      </p:sp>
      <p:pic>
        <p:nvPicPr>
          <p:cNvPr id="3" name="Picture 2" descr="baseline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940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2103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5EA8A7"/>
                </a:solidFill>
              </a:defRPr>
            </a:pPr>
            <a:r>
              <a:t>Baseline Stats:</a:t>
            </a:r>
          </a:p>
          <a:p>
            <a:pPr>
              <a:defRPr sz="1400"/>
            </a:pPr>
            <a:r>
              <a:t>• 56 nodes</a:t>
            </a:r>
          </a:p>
          <a:p>
            <a:pPr>
              <a:defRPr sz="1400"/>
            </a:pPr>
            <a:r>
              <a:t>• 5 relationships</a:t>
            </a:r>
          </a:p>
          <a:p>
            <a:pPr>
              <a:defRPr sz="1400"/>
            </a:pPr>
            <a:r>
              <a:t>• Layer: default</a:t>
            </a:r>
          </a:p>
          <a:p>
            <a:pPr>
              <a:defRPr sz="1400"/>
            </a:pPr>
            <a:r>
              <a:t>• Type: 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Scale-Up Operation: Testing at Scale</a:t>
            </a:r>
          </a:p>
        </p:txBody>
      </p:sp>
      <p:pic>
        <p:nvPicPr>
          <p:cNvPr id="3" name="Picture 2" descr="scaleu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940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21031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F1C40F"/>
                </a:solidFill>
              </a:defRPr>
            </a:pPr>
            <a:r>
              <a:t>Scale-Up Result:</a:t>
            </a:r>
          </a:p>
          <a:p>
            <a:pPr>
              <a:defRPr sz="1400"/>
            </a:pPr>
            <a:r>
              <a:t>• ~280 nodes</a:t>
            </a:r>
          </a:p>
          <a:p>
            <a:pPr>
              <a:defRPr sz="1400"/>
            </a:pPr>
            <a:r>
              <a:t>• 5x scale factor</a:t>
            </a:r>
          </a:p>
          <a:p>
            <a:pPr>
              <a:defRPr sz="1400"/>
            </a:pPr>
            <a:r>
              <a:t>• Template strategy</a:t>
            </a:r>
          </a:p>
          <a:p>
            <a:pPr>
              <a:defRPr sz="1400"/>
            </a:pPr>
            <a:r>
              <a:t>• New layer created</a:t>
            </a:r>
          </a:p>
          <a:p>
            <a:pPr>
              <a:defRPr sz="1400">
                <a:solidFill>
                  <a:srgbClr val="2ECC71"/>
                </a:solidFill>
              </a:defRPr>
            </a:pPr>
            <a:r>
              <a:t>• Baseline preserved!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Scale-Down Operation: Extract Meaningful Subset</a:t>
            </a:r>
          </a:p>
        </p:txBody>
      </p:sp>
      <p:pic>
        <p:nvPicPr>
          <p:cNvPr id="3" name="Picture 2" descr="scaledow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940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21031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FF9500"/>
                </a:solidFill>
              </a:defRPr>
            </a:pPr>
            <a:r>
              <a:t>Scale-Down Result:</a:t>
            </a:r>
          </a:p>
          <a:p>
            <a:pPr>
              <a:defRPr sz="1400"/>
            </a:pPr>
            <a:r>
              <a:t>• ~28 nodes</a:t>
            </a:r>
          </a:p>
          <a:p>
            <a:pPr>
              <a:defRPr sz="1400"/>
            </a:pPr>
            <a:r>
              <a:t>• 50% sample rate</a:t>
            </a:r>
          </a:p>
          <a:p>
            <a:pPr>
              <a:defRPr sz="1400"/>
            </a:pPr>
            <a:r>
              <a:t>• Forest Fire algorithm</a:t>
            </a:r>
          </a:p>
          <a:p>
            <a:pPr>
              <a:defRPr sz="1400"/>
            </a:pPr>
            <a:r>
              <a:t>• New layer created</a:t>
            </a:r>
          </a:p>
          <a:p>
            <a:pPr>
              <a:defRPr sz="1400">
                <a:solidFill>
                  <a:srgbClr val="2ECC71"/>
                </a:solidFill>
              </a:defRPr>
            </a:pPr>
            <a:r>
              <a:t>• Others preserved!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Layer Management: 11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list - Show all layers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show &lt;id&gt; - Display layer details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active - Show/set active layer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create &lt;id&gt; - Create new layer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copy &lt;src&gt; &lt;dst&gt; - Duplicate layer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diff &lt;l1&gt; &lt;l2&gt; - Compare layers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delete &lt;id&gt; - Remove layer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validate &lt;id&gt; - Check integrity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archive &lt;id&gt; - Export to JSON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restore &lt;file&gt; - Import from JSON</a:t>
            </a:r>
          </a:p>
          <a:p>
            <a:pPr>
              <a:spcAft>
                <a:spcPts val="600"/>
              </a:spcAft>
              <a:defRPr sz="1400">
                <a:latin typeface="Courier New"/>
              </a:defRPr>
            </a:pPr>
            <a:r>
              <a:t>atg layer refresh-stats &lt;id&gt; - Update metadata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Example: atg layer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 b="1">
                <a:latin typeface="Courier New"/>
              </a:defRPr>
            </a:pPr>
            <a:r>
              <a:t>$ atg layer list</a:t>
            </a:r>
          </a:p>
          <a:p>
            <a:pPr>
              <a:defRPr sz="1200">
                <a:latin typeface="Courier New"/>
              </a:defRPr>
            </a:pPr>
            <a:r>
              <a:t>┌──────────────┬──────────┬────────┬────────┬───────┐</a:t>
            </a:r>
            <a:br/>
            <a:r>
              <a:t>│ Layer ID     │ Name     │ Type   │ Active │ Nodes │</a:t>
            </a:r>
            <a:br/>
            <a:r>
              <a:t>├──────────────┼──────────┼────────┼────────┼───────┤</a:t>
            </a:r>
            <a:br/>
            <a:r>
              <a:t>│ test-cli-... │ Test CLI │ exper… │        │     0 │</a:t>
            </a:r>
            <a:br/>
            <a:r>
              <a:t>│ default      │ Default  │ baseli │   ✓    │    56 │</a:t>
            </a:r>
            <a:br/>
            <a:r>
              <a:t>└──────────────┴──────────┴────────┴────────┴───────┘</a:t>
            </a:r>
            <a:br/>
            <a:br/>
            <a:r>
              <a:t>Total layers: 3</a:t>
            </a:r>
            <a:br/>
            <a:r>
              <a:t>Active layer: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Example: atg layer show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 b="1">
                <a:latin typeface="Courier New"/>
              </a:defRPr>
            </a:pPr>
            <a:r>
              <a:t>$ atg layer show default</a:t>
            </a:r>
          </a:p>
          <a:p>
            <a:pPr>
              <a:defRPr sz="1300">
                <a:latin typeface="Courier New"/>
              </a:defRPr>
            </a:pPr>
            <a:r>
              <a:t>╭──────────── Layer: default ────────────╮</a:t>
            </a:r>
            <a:br/>
            <a:r>
              <a:t>│ Name: Default Baseline                 │</a:t>
            </a:r>
            <a:br/>
            <a:r>
              <a:t>│ Description: 1:1 abstraction           │</a:t>
            </a:r>
            <a:br/>
            <a:r>
              <a:t>│ Type: baseline                         │</a:t>
            </a:r>
            <a:br/>
            <a:r>
              <a:t>│ Status: Active, Baseline               │</a:t>
            </a:r>
            <a:br/>
            <a:r>
              <a:t>│                                        │</a:t>
            </a:r>
            <a:br/>
            <a:r>
              <a:t>│ Statistics:                            │</a:t>
            </a:r>
            <a:br/>
            <a:r>
              <a:t>│   Nodes:         56 resources          │</a:t>
            </a:r>
            <a:br/>
            <a:r>
              <a:t>│   Relationships:  5 connections        │</a:t>
            </a:r>
            <a:br/>
            <a:r>
              <a:t>╰────────────────────────────────────────╯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UI: Layer Selector in Scale Operations Tab</a:t>
            </a:r>
          </a:p>
        </p:txBody>
      </p:sp>
      <p:pic>
        <p:nvPicPr>
          <p:cNvPr id="3" name="Picture 2" descr="layer-selector-scale-ops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UI: Layer Selector in Application Header</a:t>
            </a:r>
          </a:p>
        </p:txBody>
      </p:sp>
      <p:pic>
        <p:nvPicPr>
          <p:cNvPr id="3" name="Picture 2" descr="layer-selector-full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Non-Destructive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>
                <a:solidFill>
                  <a:srgbClr val="E74C3C"/>
                </a:solidFill>
              </a:defRPr>
            </a:pPr>
            <a:r>
              <a:t>Before (PR #435): Destructive</a:t>
            </a:r>
          </a:p>
          <a:p>
            <a:pPr lvl="1">
              <a:defRPr sz="1400">
                <a:latin typeface="Courier New"/>
              </a:defRPr>
            </a:pPr>
            <a:r>
              <a:t>atg scale-up --scale-factor 10</a:t>
            </a:r>
          </a:p>
          <a:p>
            <a:pPr lvl="1">
              <a:spcAft>
                <a:spcPts val="1600"/>
              </a:spcAft>
              <a:defRPr sz="1400"/>
            </a:pPr>
            <a:r>
              <a:t>→ Modifies existing graph (data loss risk)</a:t>
            </a:r>
          </a:p>
          <a:p>
            <a:pPr>
              <a:defRPr b="1" sz="2000">
                <a:solidFill>
                  <a:srgbClr val="2ECC71"/>
                </a:solidFill>
              </a:defRPr>
            </a:pPr>
            <a:r>
              <a:t>After (PR #459): Non-Destructive</a:t>
            </a:r>
          </a:p>
          <a:p>
            <a:pPr lvl="1">
              <a:defRPr sz="1400">
                <a:latin typeface="Courier New"/>
              </a:defRPr>
            </a:pPr>
            <a:r>
              <a:t>atg scale-up template --new-layer scaled-5x --scale-factor 5</a:t>
            </a:r>
          </a:p>
          <a:p>
            <a:pPr lvl="1">
              <a:defRPr sz="1400"/>
            </a:pPr>
            <a:r>
              <a:t>→ Creates NEW layer, original preserved (56 → 56 + 280 nodes)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 Independence: The Key Benefit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b="1" sz="1800"/>
            </a:pPr>
            <a:r>
              <a:t>Each layer is completely isolated:</a:t>
            </a:r>
          </a:p>
          <a:p>
            <a:pPr lvl="1">
              <a:defRPr sz="1600"/>
            </a:pPr>
            <a:r>
              <a:t>Deleting one layer NEVER affects others</a:t>
            </a:r>
          </a:p>
          <a:p>
            <a:pPr lvl="1">
              <a:defRPr sz="1600"/>
            </a:pPr>
            <a:r>
              <a:t>Modifying one layer leaves others untouched</a:t>
            </a:r>
          </a:p>
          <a:p>
            <a:pPr lvl="1">
              <a:defRPr sz="1600"/>
            </a:pPr>
            <a:r>
              <a:t>Original scan always available for recovery</a:t>
            </a:r>
          </a:p>
          <a:p>
            <a:pPr lvl="1">
              <a:defRPr sz="1600"/>
            </a:pPr>
            <a:r>
              <a:t>Deploy different scales to different environments</a:t>
            </a:r>
          </a:p>
          <a:p>
            <a:pPr lvl="1">
              <a:defRPr sz="1600" i="1"/>
            </a:pPr>
            <a:r>
              <a:t>Like git branches for graph topology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Production-Ready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b="1" sz="2000"/>
            </a:pPr>
            <a:r>
              <a:t>Comprehensive Testing:</a:t>
            </a:r>
          </a:p>
          <a:p>
            <a:pPr lvl="1">
              <a:defRPr sz="1600">
                <a:solidFill>
                  <a:srgbClr val="2ECC71"/>
                </a:solidFill>
              </a:defRPr>
            </a:pPr>
            <a:r>
              <a:t>CLI: 7/7 commands tested (100% pass rate)</a:t>
            </a:r>
          </a:p>
          <a:p>
            <a:pPr lvl="1">
              <a:defRPr sz="1600">
                <a:solidFill>
                  <a:srgbClr val="2ECC71"/>
                </a:solidFill>
              </a:defRPr>
            </a:pPr>
            <a:r>
              <a:t>UI: 24/25 E2E tests passing (96% pass rate)</a:t>
            </a:r>
          </a:p>
          <a:p>
            <a:pPr lvl="1">
              <a:defRPr sz="1600"/>
            </a:pPr>
            <a:r>
              <a:t>Database: Migration verified, 56 nodes migrated</a:t>
            </a:r>
          </a:p>
          <a:p>
            <a:pPr lvl="1">
              <a:defRPr sz="1600"/>
            </a:pPr>
            <a:r>
              <a:t>Integration: Real Playwright tests with actual browser</a:t>
            </a:r>
          </a:p>
          <a:p>
            <a:pPr lvl="1">
              <a:defRPr sz="1600"/>
            </a:pPr>
            <a:r>
              <a:t>Documentation: 1,400+ lines complete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>
                <a:solidFill>
                  <a:srgbClr val="5EA8A7"/>
                </a:solidFill>
              </a:defRPr>
            </a:pPr>
            <a:r>
              <a:t>Never Lose Data</a:t>
            </a:r>
          </a:p>
          <a:p>
            <a:pPr lvl="1">
              <a:spcAft>
                <a:spcPts val="800"/>
              </a:spcAft>
              <a:defRPr sz="1400"/>
            </a:pPr>
            <a:r>
              <a:t>Original scan preserved forever (5,584 nodes immutable)</a:t>
            </a:r>
          </a:p>
          <a:p>
            <a:pPr>
              <a:defRPr b="1" sz="1600">
                <a:solidFill>
                  <a:srgbClr val="5EA8A7"/>
                </a:solidFill>
              </a:defRPr>
            </a:pPr>
            <a:r>
              <a:t>Safe Experimentation</a:t>
            </a:r>
          </a:p>
          <a:p>
            <a:pPr lvl="1">
              <a:spcAft>
                <a:spcPts val="800"/>
              </a:spcAft>
              <a:defRPr sz="1400"/>
            </a:pPr>
            <a:r>
              <a:t>Create unlimited test layers without risk</a:t>
            </a:r>
          </a:p>
          <a:p>
            <a:pPr>
              <a:defRPr b="1" sz="1600">
                <a:solidFill>
                  <a:srgbClr val="5EA8A7"/>
                </a:solidFill>
              </a:defRPr>
            </a:pPr>
            <a:r>
              <a:t>Multiple Scales</a:t>
            </a:r>
          </a:p>
          <a:p>
            <a:pPr lvl="1">
              <a:spcAft>
                <a:spcPts val="800"/>
              </a:spcAft>
              <a:defRPr sz="1400"/>
            </a:pPr>
            <a:r>
              <a:t>Deploy different sizes to different environments</a:t>
            </a:r>
          </a:p>
          <a:p>
            <a:pPr>
              <a:defRPr b="1" sz="1600">
                <a:solidFill>
                  <a:srgbClr val="5EA8A7"/>
                </a:solidFill>
              </a:defRPr>
            </a:pPr>
            <a:r>
              <a:t>Fast Workflows</a:t>
            </a:r>
          </a:p>
          <a:p>
            <a:pPr lvl="1">
              <a:spcAft>
                <a:spcPts val="800"/>
              </a:spcAft>
              <a:defRPr sz="1400"/>
            </a:pPr>
            <a:r>
              <a:t>All layer commands sub-3 seconds</a:t>
            </a:r>
          </a:p>
          <a:p>
            <a:pPr>
              <a:defRPr b="1" sz="1600">
                <a:solidFill>
                  <a:srgbClr val="5EA8A7"/>
                </a:solidFill>
              </a:defRPr>
            </a:pPr>
            <a:r>
              <a:t>Git-Like</a:t>
            </a:r>
          </a:p>
          <a:p>
            <a:pPr lvl="1">
              <a:spcAft>
                <a:spcPts val="800"/>
              </a:spcAft>
              <a:defRPr sz="1400"/>
            </a:pPr>
            <a:r>
              <a:t>Branch/merge model for graph topology</a:t>
            </a:r>
          </a:p>
          <a:p>
            <a:pPr>
              <a:defRPr b="1" sz="1600">
                <a:solidFill>
                  <a:srgbClr val="5EA8A7"/>
                </a:solidFill>
              </a:defRPr>
            </a:pPr>
            <a:r>
              <a:t>Production Ready</a:t>
            </a:r>
          </a:p>
          <a:p>
            <a:pPr lvl="1">
              <a:spcAft>
                <a:spcPts val="800"/>
              </a:spcAft>
              <a:defRPr sz="1400"/>
            </a:pPr>
            <a:r>
              <a:t>96% E2E test pass rate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Ready for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b="1" sz="2000"/>
            </a:pPr>
            <a:r>
              <a:t>Implementation Complete:</a:t>
            </a:r>
          </a:p>
          <a:p>
            <a:pPr lvl="1">
              <a:defRPr sz="1600"/>
            </a:pPr>
            <a:r>
              <a:t>✓ 11 CLI commands for layer management</a:t>
            </a:r>
          </a:p>
          <a:p>
            <a:pPr lvl="1">
              <a:defRPr sz="1600"/>
            </a:pPr>
            <a:r>
              <a:t>✓ UI layer selector with real-time switching</a:t>
            </a:r>
          </a:p>
          <a:p>
            <a:pPr lvl="1">
              <a:defRPr sz="1600"/>
            </a:pPr>
            <a:r>
              <a:t>✓ Non-destructive scale operations</a:t>
            </a:r>
          </a:p>
          <a:p>
            <a:pPr lvl="1">
              <a:defRPr sz="1600"/>
            </a:pPr>
            <a:r>
              <a:t>✓ 96% E2E test pass rate (24/25 tests)</a:t>
            </a:r>
          </a:p>
          <a:p>
            <a:pPr lvl="1">
              <a:defRPr sz="1600"/>
            </a:pPr>
            <a:r>
              <a:t>✓ Original data never lost (5,584 nodes preserved)</a:t>
            </a:r>
          </a:p>
          <a:p>
            <a:pPr>
              <a:spcBef>
                <a:spcPts val="1600"/>
              </a:spcBef>
              <a:defRPr sz="1400" i="1"/>
            </a:pPr>
            <a:r>
              <a:t>Issue #456 | PR #459 | Status: READY TO MERGE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