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C2833"/>
                </a:solidFill>
              </a:defRPr>
            </a:pPr>
            <a:r>
              <a:t>Multi-Layer Graph Projections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BDC3C7"/>
                </a:solidFill>
              </a:defRPr>
            </a:pPr>
            <a:r>
              <a:t>Azure Tenant Grapher</a:t>
            </a:r>
          </a:p>
          <a:p>
            <a:r>
              <a:t>Preserving Original Data While Enabling Graph Transforms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Multi-Layer Architecture: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600"/>
              </a:spcAft>
              <a:defRPr sz="1600"/>
            </a:pPr>
            <a:r>
              <a:t>Azure Tenant Grapher preserves your original scan data while enabling non-destructive graph transformations through a multi-layer architecture:</a:t>
            </a:r>
          </a:p>
          <a:p>
            <a:pPr lvl="1">
              <a:defRPr sz="1500"/>
            </a:pPr>
            <a:r>
              <a:t>Original Graph Layer: Immutable source of truth (5,584 nodes)</a:t>
            </a:r>
          </a:p>
          <a:p>
            <a:pPr lvl="1">
              <a:defRPr sz="1500"/>
            </a:pPr>
            <a:r>
              <a:t>Multiple Abstracted Layers: Independent graph projections</a:t>
            </a:r>
          </a:p>
          <a:p>
            <a:pPr lvl="1">
              <a:defRPr sz="1500"/>
            </a:pPr>
            <a:r>
              <a:t>Active Layer Concept: One layer is current workspace</a:t>
            </a:r>
          </a:p>
          <a:p>
            <a:pPr lvl="1">
              <a:defRPr sz="1500"/>
            </a:pPr>
            <a:r>
              <a:t>Layer Independence: Modifications never affect other layers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2833"/>
                </a:solidFill>
              </a:defRPr>
            </a:pPr>
            <a:r>
              <a:t>Three-Tier Architecture</a:t>
            </a:r>
          </a:p>
        </p:txBody>
      </p:sp>
      <p:pic>
        <p:nvPicPr>
          <p:cNvPr id="3" name="Picture 2" descr="arch-three-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7680960" cy="43205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2833"/>
                </a:solidFill>
              </a:defRPr>
            </a:pPr>
            <a:r>
              <a:t>Layer Independence Model</a:t>
            </a:r>
          </a:p>
        </p:txBody>
      </p:sp>
      <p:pic>
        <p:nvPicPr>
          <p:cNvPr id="3" name="Picture 2" descr="arch-layer-indepen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7680960" cy="43205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2833"/>
                </a:solidFill>
              </a:defRPr>
            </a:pPr>
            <a:r>
              <a:t>Active Layer Concept</a:t>
            </a:r>
          </a:p>
        </p:txBody>
      </p:sp>
      <p:pic>
        <p:nvPicPr>
          <p:cNvPr id="3" name="Picture 2" descr="arch-active-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7680960" cy="4320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Baseline Layer Visualization (SPA)</a:t>
            </a:r>
          </a:p>
        </p:txBody>
      </p:sp>
      <p:pic>
        <p:nvPicPr>
          <p:cNvPr id="3" name="Picture 2" descr="spa-viz-with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943600" cy="33432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0" y="1371600"/>
            <a:ext cx="24688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spcAft>
                <a:spcPts val="1000"/>
              </a:spcAft>
              <a:defRPr b="1" sz="1800">
                <a:solidFill>
                  <a:srgbClr val="5EA8A7"/>
                </a:solidFill>
              </a:defRPr>
            </a:pPr>
            <a:r>
              <a:t>Baseline Layer</a:t>
            </a:r>
          </a:p>
          <a:p>
            <a:pPr>
              <a:defRPr sz="1300">
                <a:solidFill>
                  <a:srgbClr val="1C2833"/>
                </a:solidFill>
              </a:defRPr>
            </a:pPr>
            <a:r>
              <a:t>Layer ID: default</a:t>
            </a:r>
          </a:p>
          <a:p>
            <a:pPr>
              <a:spcAft>
                <a:spcPts val="1000"/>
              </a:spcAft>
              <a:defRPr sz="1300">
                <a:solidFill>
                  <a:srgbClr val="1C2833"/>
                </a:solidFill>
              </a:defRPr>
            </a:pPr>
            <a:r>
              <a:t>Type: baseline</a:t>
            </a:r>
          </a:p>
          <a:p>
            <a:pPr>
              <a:defRPr b="1" sz="1400">
                <a:solidFill>
                  <a:srgbClr val="1C2833"/>
                </a:solidFill>
              </a:defRPr>
            </a:pPr>
            <a:r>
              <a:t>Node Counts:</a:t>
            </a:r>
          </a:p>
          <a:p>
            <a:pPr>
              <a:defRPr sz="1300">
                <a:solidFill>
                  <a:srgbClr val="1C2833"/>
                </a:solidFill>
              </a:defRPr>
            </a:pPr>
            <a:r>
              <a:t>• VMs: 50</a:t>
            </a:r>
          </a:p>
          <a:p>
            <a:pPr>
              <a:defRPr sz="1300">
                <a:solidFill>
                  <a:srgbClr val="1C2833"/>
                </a:solidFill>
              </a:defRPr>
            </a:pPr>
            <a:r>
              <a:t>• VNets: 6</a:t>
            </a:r>
          </a:p>
          <a:p>
            <a:pPr>
              <a:spcAft>
                <a:spcPts val="1000"/>
              </a:spcAft>
              <a:defRPr b="1" sz="1400">
                <a:solidFill>
                  <a:srgbClr val="2ECC71"/>
                </a:solidFill>
              </a:defRPr>
            </a:pPr>
            <a:r>
              <a:t>TOTAL: 56 nodes</a:t>
            </a:r>
          </a:p>
          <a:p>
            <a:pPr>
              <a:defRPr sz="1300">
                <a:solidFill>
                  <a:srgbClr val="1C2833"/>
                </a:solidFill>
              </a:defRPr>
            </a:pPr>
            <a:r>
              <a:t>Relationships: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 Layer Management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600"/>
            </a:pPr>
            <a:r>
              <a:t>11 commands for complete layer control:</a:t>
            </a:r>
          </a:p>
          <a:p>
            <a:pPr>
              <a:spcAft>
                <a:spcPts val="400"/>
              </a:spcAft>
              <a:defRPr sz="1300">
                <a:latin typeface="Courier New"/>
              </a:defRPr>
            </a:pPr>
            <a:r>
              <a:t>atg layer list</a:t>
            </a:r>
          </a:p>
          <a:p>
            <a:pPr>
              <a:spcAft>
                <a:spcPts val="400"/>
              </a:spcAft>
              <a:defRPr sz="1300">
                <a:latin typeface="Courier New"/>
              </a:defRPr>
            </a:pPr>
            <a:r>
              <a:t>atg layer show &lt;layer-id&gt;</a:t>
            </a:r>
          </a:p>
          <a:p>
            <a:pPr>
              <a:spcAft>
                <a:spcPts val="400"/>
              </a:spcAft>
              <a:defRPr sz="1300">
                <a:latin typeface="Courier New"/>
              </a:defRPr>
            </a:pPr>
            <a:r>
              <a:t>atg layer active [layer-id]</a:t>
            </a:r>
          </a:p>
          <a:p>
            <a:pPr>
              <a:spcAft>
                <a:spcPts val="400"/>
              </a:spcAft>
              <a:defRPr sz="1300">
                <a:latin typeface="Courier New"/>
              </a:defRPr>
            </a:pPr>
            <a:r>
              <a:t>atg layer create &lt;layer-id&gt; --name "Name" --type baseline|experimental</a:t>
            </a:r>
          </a:p>
          <a:p>
            <a:pPr>
              <a:spcAft>
                <a:spcPts val="400"/>
              </a:spcAft>
              <a:defRPr sz="1300">
                <a:latin typeface="Courier New"/>
              </a:defRPr>
            </a:pPr>
            <a:r>
              <a:t>atg layer copy &lt;source&gt; &lt;dest&gt;</a:t>
            </a:r>
          </a:p>
          <a:p>
            <a:pPr>
              <a:spcAft>
                <a:spcPts val="400"/>
              </a:spcAft>
              <a:defRPr sz="1300">
                <a:latin typeface="Courier New"/>
              </a:defRPr>
            </a:pPr>
            <a:r>
              <a:t>atg layer diff &lt;layer1&gt; &lt;layer2&gt;</a:t>
            </a:r>
          </a:p>
          <a:p>
            <a:pPr>
              <a:spcAft>
                <a:spcPts val="400"/>
              </a:spcAft>
              <a:defRPr sz="1300">
                <a:latin typeface="Courier New"/>
              </a:defRPr>
            </a:pPr>
            <a:r>
              <a:t>atg layer delete &lt;layer-id&gt;</a:t>
            </a:r>
          </a:p>
          <a:p>
            <a:pPr>
              <a:spcAft>
                <a:spcPts val="400"/>
              </a:spcAft>
              <a:defRPr sz="1300">
                <a:latin typeface="Courier New"/>
              </a:defRPr>
            </a:pPr>
            <a:r>
              <a:t>atg layer validate &lt;layer-id&gt;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 Tutorial: List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b="1" sz="1600"/>
            </a:pPr>
            <a:r>
              <a:t>Command:</a:t>
            </a:r>
          </a:p>
          <a:p>
            <a:pPr>
              <a:spcAft>
                <a:spcPts val="1200"/>
              </a:spcAft>
              <a:defRPr sz="1500" b="1">
                <a:solidFill>
                  <a:srgbClr val="5EA8A7"/>
                </a:solidFill>
                <a:latin typeface="Courier New"/>
              </a:defRPr>
            </a:pPr>
            <a:r>
              <a:t>$ atg layer list</a:t>
            </a:r>
          </a:p>
          <a:p>
            <a:pPr>
              <a:spcAft>
                <a:spcPts val="600"/>
              </a:spcAft>
              <a:defRPr b="1" sz="1600"/>
            </a:pPr>
            <a:r>
              <a:t>Output:</a:t>
            </a:r>
          </a:p>
          <a:p>
            <a:pPr>
              <a:defRPr sz="1200">
                <a:latin typeface="Courier New"/>
              </a:defRPr>
            </a:pPr>
            <a:r>
              <a:t>┌──────────┬─────────┬──────┬────────┬───────┐</a:t>
            </a:r>
            <a:br/>
            <a:r>
              <a:t>│ Layer ID │ Name    │ Type │ Active │ Nodes │</a:t>
            </a:r>
            <a:br/>
            <a:r>
              <a:t>├──────────┼─────────┼──────┼────────┼───────┤</a:t>
            </a:r>
            <a:br/>
            <a:r>
              <a:t>│ default  │ Default │ base │   ✓    │    56 │</a:t>
            </a:r>
            <a:br/>
            <a:r>
              <a:t>└──────────┴─────────┴──────┴────────┴───────┘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 Tutorial: Show Layer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b="1" sz="1600"/>
            </a:pPr>
            <a:r>
              <a:t>Command:</a:t>
            </a:r>
          </a:p>
          <a:p>
            <a:pPr>
              <a:spcAft>
                <a:spcPts val="1200"/>
              </a:spcAft>
              <a:defRPr sz="1500" b="1">
                <a:solidFill>
                  <a:srgbClr val="5EA8A7"/>
                </a:solidFill>
                <a:latin typeface="Courier New"/>
              </a:defRPr>
            </a:pPr>
            <a:r>
              <a:t>$ atg layer show default</a:t>
            </a:r>
          </a:p>
          <a:p>
            <a:pPr>
              <a:spcAft>
                <a:spcPts val="600"/>
              </a:spcAft>
              <a:defRPr b="1" sz="1600"/>
            </a:pPr>
            <a:r>
              <a:t>Output:</a:t>
            </a:r>
          </a:p>
          <a:p>
            <a:pPr>
              <a:defRPr sz="1100">
                <a:latin typeface="Courier New"/>
              </a:defRPr>
            </a:pPr>
            <a:r>
              <a:t>╭──────── Layer: default ────────╮</a:t>
            </a:r>
            <a:br/>
            <a:r>
              <a:t>│ Name: Default Baseline         │</a:t>
            </a:r>
            <a:br/>
            <a:r>
              <a:t>│ Type: baseline                 │</a:t>
            </a:r>
            <a:br/>
            <a:r>
              <a:t>│ Status: Active, Baseline       │</a:t>
            </a:r>
            <a:br/>
            <a:r>
              <a:t>│                                │</a:t>
            </a:r>
            <a:br/>
            <a:r>
              <a:t>│ Statistics:                    │</a:t>
            </a:r>
            <a:br/>
            <a:r>
              <a:t>│   Nodes:         56 resources  │</a:t>
            </a:r>
            <a:br/>
            <a:r>
              <a:t>│   Relationships:  5 connection │</a:t>
            </a:r>
            <a:br/>
            <a:r>
              <a:t>│                                │</a:t>
            </a:r>
            <a:br/>
            <a:r>
              <a:t>│ Resource Types:                │</a:t>
            </a:r>
            <a:br/>
            <a:r>
              <a:t>│   VirtualMachines: 50          │</a:t>
            </a:r>
            <a:br/>
            <a:r>
              <a:t>│   VirtualNetworks:  6          │</a:t>
            </a:r>
            <a:br/>
            <a:r>
              <a:t>╰────────────────────────────────╯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 Tutorial: Create New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b="1" sz="1600"/>
            </a:pPr>
            <a:r>
              <a:t>Command:</a:t>
            </a:r>
          </a:p>
          <a:p>
            <a:pPr>
              <a:spcAft>
                <a:spcPts val="1200"/>
              </a:spcAft>
              <a:defRPr sz="1300" b="1">
                <a:solidFill>
                  <a:srgbClr val="5EA8A7"/>
                </a:solidFill>
                <a:latin typeface="Courier New"/>
              </a:defRPr>
            </a:pPr>
            <a:r>
              <a:t>$ atg layer create experimental-v1 \</a:t>
            </a:r>
            <a:br/>
            <a:r>
              <a:t>    --name "Test Environment" \</a:t>
            </a:r>
            <a:br/>
            <a:r>
              <a:t>    --type experimental</a:t>
            </a:r>
          </a:p>
          <a:p>
            <a:pPr>
              <a:spcAft>
                <a:spcPts val="600"/>
              </a:spcAft>
              <a:defRPr b="1" sz="1600"/>
            </a:pPr>
            <a:r>
              <a:t>Output:</a:t>
            </a:r>
          </a:p>
          <a:p>
            <a:pPr>
              <a:defRPr sz="1400">
                <a:latin typeface="Courier New"/>
              </a:defRPr>
            </a:pPr>
            <a:r>
              <a:t>Created layer: experimental-v1 (active=False)</a:t>
            </a:r>
          </a:p>
          <a:p>
            <a:pPr>
              <a:defRPr sz="1400">
                <a:solidFill>
                  <a:srgbClr val="2ECC71"/>
                </a:solidFill>
              </a:defRPr>
            </a:pPr>
            <a:r>
              <a:t>✓ Layer created successfully</a:t>
            </a:r>
          </a:p>
          <a:p>
            <a:br/>
            <a:pPr>
              <a:defRPr sz="1300">
                <a:latin typeface="Courier New"/>
              </a:defRPr>
            </a:pPr>
            <a:r>
              <a:t>Layer ID: experimental-v1</a:t>
            </a:r>
          </a:p>
          <a:p>
            <a:pPr>
              <a:defRPr sz="1300">
                <a:latin typeface="Courier New"/>
              </a:defRPr>
            </a:pPr>
            <a:r>
              <a:t>Node count: 0 (empty layer)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Scale-Up to New Layer (Non-Destructive)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Command to scale-up without modifying baseline:</a:t>
            </a:r>
          </a:p>
          <a:p>
            <a:pPr>
              <a:spcAft>
                <a:spcPts val="1200"/>
              </a:spcAft>
              <a:defRPr sz="1300" b="1">
                <a:solidFill>
                  <a:srgbClr val="5EA8A7"/>
                </a:solidFill>
                <a:latin typeface="Courier New"/>
              </a:defRPr>
            </a:pPr>
            <a:r>
              <a:t>$ atg scale-up template \</a:t>
            </a:r>
            <a:br/>
            <a:r>
              <a:t>    --template-file templates/scale_up_template.yaml \</a:t>
            </a:r>
            <a:br/>
            <a:r>
              <a:t>    --scale-factor 5 \</a:t>
            </a:r>
            <a:br/>
            <a:r>
              <a:t>    --target-layer scaled-5x</a:t>
            </a:r>
          </a:p>
          <a:p>
            <a:pPr>
              <a:spcAft>
                <a:spcPts val="800"/>
              </a:spcAft>
              <a:defRPr b="1" sz="1600"/>
            </a:pPr>
            <a:r>
              <a:t>Result:</a:t>
            </a:r>
          </a:p>
          <a:p>
            <a:pPr>
              <a:defRPr sz="1500"/>
            </a:pPr>
            <a:r>
              <a:t>• Creates NEW layer: scaled-5x</a:t>
            </a:r>
          </a:p>
          <a:p>
            <a:pPr>
              <a:defRPr sz="1500"/>
            </a:pPr>
            <a:r>
              <a:t>• Baseline layer untouched (still 56 nodes)</a:t>
            </a:r>
          </a:p>
          <a:p>
            <a:pPr>
              <a:defRPr sz="1500"/>
            </a:pPr>
            <a:r>
              <a:t>• Scaled layer: ~280 nodes (5x scale)</a:t>
            </a:r>
          </a:p>
          <a:p>
            <a:pPr>
              <a:defRPr sz="1500">
                <a:solidFill>
                  <a:srgbClr val="2ECC71"/>
                </a:solidFill>
              </a:defRPr>
            </a:pPr>
            <a:r>
              <a:t>• Original scan preserved (5,584 nodes)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UI: Layer Selector in Application Header</a:t>
            </a:r>
          </a:p>
        </p:txBody>
      </p:sp>
      <p:pic>
        <p:nvPicPr>
          <p:cNvPr id="3" name="Picture 2" descr="layer-selector-full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48348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UI: Layer Selector in Scale Operations Tab</a:t>
            </a:r>
          </a:p>
        </p:txBody>
      </p:sp>
      <p:pic>
        <p:nvPicPr>
          <p:cNvPr id="3" name="Picture 2" descr="layer-selector-scale-ops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48348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SPA Visualization Tab: Interactive Graph View</a:t>
            </a:r>
          </a:p>
        </p:txBody>
      </p:sp>
      <p:pic>
        <p:nvPicPr>
          <p:cNvPr id="3" name="Picture 2" descr="spa-viz-with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48348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500">
                <a:solidFill>
                  <a:srgbClr val="5EA8A7"/>
                </a:solidFill>
              </a:defRPr>
            </a:pPr>
            <a:r>
              <a:t>Immutable Original</a:t>
            </a:r>
          </a:p>
          <a:p>
            <a:pPr lvl="1">
              <a:spcAft>
                <a:spcPts val="600"/>
              </a:spcAft>
              <a:defRPr sz="1300"/>
            </a:pPr>
            <a:r>
              <a:t>5,584 nodes preserved forever, never modified</a:t>
            </a:r>
          </a:p>
          <a:p>
            <a:pPr>
              <a:defRPr b="1" sz="1500">
                <a:solidFill>
                  <a:srgbClr val="5EA8A7"/>
                </a:solidFill>
              </a:defRPr>
            </a:pPr>
            <a:r>
              <a:t>Multiple Layers</a:t>
            </a:r>
          </a:p>
          <a:p>
            <a:pPr lvl="1">
              <a:spcAft>
                <a:spcPts val="600"/>
              </a:spcAft>
              <a:defRPr sz="1300"/>
            </a:pPr>
            <a:r>
              <a:t>Create unlimited independent graph projections</a:t>
            </a:r>
          </a:p>
          <a:p>
            <a:pPr>
              <a:defRPr b="1" sz="1500">
                <a:solidFill>
                  <a:srgbClr val="5EA8A7"/>
                </a:solidFill>
              </a:defRPr>
            </a:pPr>
            <a:r>
              <a:t>Active Layer</a:t>
            </a:r>
          </a:p>
          <a:p>
            <a:pPr lvl="1">
              <a:spcAft>
                <a:spcPts val="600"/>
              </a:spcAft>
              <a:defRPr sz="1300"/>
            </a:pPr>
            <a:r>
              <a:t>One workspace at a time, switch anytime</a:t>
            </a:r>
          </a:p>
          <a:p>
            <a:pPr>
              <a:defRPr b="1" sz="1500">
                <a:solidFill>
                  <a:srgbClr val="5EA8A7"/>
                </a:solidFill>
              </a:defRPr>
            </a:pPr>
            <a:r>
              <a:t>Non-Destructive</a:t>
            </a:r>
          </a:p>
          <a:p>
            <a:pPr lvl="1">
              <a:spcAft>
                <a:spcPts val="600"/>
              </a:spcAft>
              <a:defRPr sz="1300"/>
            </a:pPr>
            <a:r>
              <a:t>Scale operations create new layers</a:t>
            </a:r>
          </a:p>
          <a:p>
            <a:pPr>
              <a:defRPr b="1" sz="1500">
                <a:solidFill>
                  <a:srgbClr val="5EA8A7"/>
                </a:solidFill>
              </a:defRPr>
            </a:pPr>
            <a:r>
              <a:t>Layer Management</a:t>
            </a:r>
          </a:p>
          <a:p>
            <a:pPr lvl="1">
              <a:spcAft>
                <a:spcPts val="600"/>
              </a:spcAft>
              <a:defRPr sz="1300"/>
            </a:pPr>
            <a:r>
              <a:t>11 CLI commands for complete control</a:t>
            </a:r>
          </a:p>
          <a:p>
            <a:pPr>
              <a:defRPr b="1" sz="1500">
                <a:solidFill>
                  <a:srgbClr val="5EA8A7"/>
                </a:solidFill>
              </a:defRPr>
            </a:pPr>
            <a:r>
              <a:t>UI Integration</a:t>
            </a:r>
          </a:p>
          <a:p>
            <a:pPr lvl="1">
              <a:spcAft>
                <a:spcPts val="600"/>
              </a:spcAft>
              <a:defRPr sz="1300"/>
            </a:pPr>
            <a:r>
              <a:t>Visual layer selector in SPA</a:t>
            </a:r>
          </a:p>
          <a:p>
            <a:pPr>
              <a:defRPr b="1" sz="1500">
                <a:solidFill>
                  <a:srgbClr val="5EA8A7"/>
                </a:solidFill>
              </a:defRPr>
            </a:pPr>
            <a:r>
              <a:t>Git-Like Workflow</a:t>
            </a:r>
          </a:p>
          <a:p>
            <a:pPr lvl="1">
              <a:spcAft>
                <a:spcPts val="600"/>
              </a:spcAft>
              <a:defRPr sz="1300"/>
            </a:pPr>
            <a:r>
              <a:t>Branch, compare, merge graph topologies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Multi-Layer Graph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b="1" sz="1800"/>
            </a:pPr>
            <a:r>
              <a:t>Documentation &amp; Resources:</a:t>
            </a:r>
          </a:p>
          <a:p>
            <a:pPr>
              <a:defRPr sz="1300"/>
            </a:pPr>
            <a:r>
              <a:t>Architecture: /docs/architecture/MULTI_LAYER_GRAPH_ARCHITECTURE.md</a:t>
            </a:r>
          </a:p>
          <a:p>
            <a:pPr>
              <a:defRPr sz="1300"/>
            </a:pPr>
            <a:r>
              <a:t>CLI Reference: atg layer --help</a:t>
            </a:r>
          </a:p>
          <a:p>
            <a:pPr>
              <a:defRPr sz="1300"/>
            </a:pPr>
            <a:r>
              <a:t>E2E Testing: 96% pass rate (24/25 tests)</a:t>
            </a:r>
          </a:p>
          <a:p>
            <a:pPr>
              <a:spcAft>
                <a:spcPts val="1600"/>
              </a:spcAft>
              <a:defRPr sz="1300"/>
            </a:pPr>
            <a:r>
              <a:t>Issue #456 | PR #459</a:t>
            </a:r>
          </a:p>
          <a:p>
            <a:pPr>
              <a:spcAft>
                <a:spcPts val="800"/>
              </a:spcAft>
              <a:defRPr b="1" sz="1800"/>
            </a:pPr>
            <a:r>
              <a:t>Implementation Status:</a:t>
            </a:r>
          </a:p>
          <a:p>
            <a:pPr>
              <a:defRPr sz="1600">
                <a:solidFill>
                  <a:srgbClr val="2ECC71"/>
                </a:solidFill>
              </a:defRPr>
            </a:pPr>
            <a:r>
              <a:t>✓ Production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