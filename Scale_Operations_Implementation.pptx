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Tenant Grapher • Issue #427 • November 2025</a:t>
            </a:r>
          </a:p>
        </p:txBody>
      </p:sp>
      <p:pic>
        <p:nvPicPr>
          <p:cNvPr id="4" name="Picture 3" descr="multi-layer-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286000"/>
            <a:ext cx="640080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of scale-up and scale-down operations</a:t>
            </a:r>
          </a:p>
          <a:p>
            <a:pPr>
              <a:defRPr sz="1600"/>
            </a:pPr>
            <a:r>
              <a:t>7 Python services, 7 CLI commands, 12 UI React components</a:t>
            </a:r>
          </a:p>
          <a:p>
            <a:pPr>
              <a:defRPr sz="1600"/>
            </a:pPr>
            <a:r>
              <a:t>Tested with real DefenderATEVET17 tenant data</a:t>
            </a:r>
          </a:p>
          <a:p>
            <a:pPr>
              <a:defRPr sz="1600"/>
            </a:pPr>
            <a:r>
              <a:t>Multiple bugs found and fixed through end-to-end testing</a:t>
            </a:r>
          </a:p>
          <a:p>
            <a:pPr>
              <a:defRPr sz="1600"/>
            </a:pPr>
            <a:r>
              <a:t>Comprehensive documentation and architecture diagrams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represents initial implementation with room for</a:t>
            </a:r>
          </a:p>
          <a:p>
            <a:pPr>
              <a:defRPr sz="1600"/>
            </a:pPr>
            <a:r>
              <a:t>continued improvement based on real-world usage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Architecture: Dual-Graph Design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59839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Scale operations work only on abstracted layer, preserving original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Scale-Up Operation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7140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Complete sequence from CLI to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371127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Extract → Sample → Validate →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503004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DefenderATEVET17 Original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Command: atg scan --tenant-id 3cd87a41-1f61-4aef-a212-cefdecd9a2d1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Total abstracted resources: 3,766</a:t>
            </a:r>
          </a:p>
          <a:p>
            <a:pPr>
              <a:defRPr sz="1600"/>
            </a:pPr>
            <a:r>
              <a:t>Top resource types:</a:t>
            </a:r>
          </a:p>
          <a:p>
            <a:pPr>
              <a:defRPr sz="1600"/>
            </a:pPr>
            <a:r>
              <a:t>  • Subnets: 2,265</a:t>
            </a:r>
          </a:p>
          <a:p>
            <a:pPr>
              <a:defRPr sz="1600"/>
            </a:pPr>
            <a:r>
              <a:t>  • Virtual Networks: 309</a:t>
            </a:r>
          </a:p>
          <a:p>
            <a:pPr>
              <a:defRPr sz="1600"/>
            </a:pPr>
            <a:r>
              <a:t>  • Network Interfaces: 175</a:t>
            </a:r>
          </a:p>
          <a:p>
            <a:pPr>
              <a:defRPr sz="1600"/>
            </a:pPr>
            <a:r>
              <a:t>  • Managed Identities: 114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Graph After Scale Operations</a:t>
            </a:r>
          </a:p>
        </p:txBody>
      </p:sp>
      <p:pic>
        <p:nvPicPr>
          <p:cNvPr id="3" name="Picture 2" descr="CURRENT-87k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87,941 nodes visualized from actual atg visualize command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Getting Started</a:t>
            </a:r>
          </a:p>
        </p:txBody>
      </p:sp>
      <p:pic>
        <p:nvPicPr>
          <p:cNvPr id="3" name="Picture 2" descr="tutorial-01-getting-sta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Navigate to Scale Operations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Template Strategy</a:t>
            </a:r>
          </a:p>
        </p:txBody>
      </p:sp>
      <p:pic>
        <p:nvPicPr>
          <p:cNvPr id="3" name="Picture 2" descr="tutorial-02-template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Select template-based scaling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Scenario</a:t>
            </a:r>
          </a:p>
        </p:txBody>
      </p:sp>
      <p:pic>
        <p:nvPicPr>
          <p:cNvPr id="3" name="Picture 2" descr="tutorial-03-scenario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Choose hub-spoke topology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 Factor</a:t>
            </a:r>
          </a:p>
        </p:txBody>
      </p:sp>
      <p:pic>
        <p:nvPicPr>
          <p:cNvPr id="3" name="Picture 2" descr="tutorial-04-scale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Adjust intensity (1x-10x)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Execute</a:t>
            </a:r>
          </a:p>
        </p:txBody>
      </p:sp>
      <p:pic>
        <p:nvPicPr>
          <p:cNvPr id="3" name="Picture 2" descr="tutorial-05-preview-exec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Preview then execute operation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Quick Actions</a:t>
            </a:r>
          </a:p>
        </p:txBody>
      </p:sp>
      <p:pic>
        <p:nvPicPr>
          <p:cNvPr id="3" name="Picture 2" descr="tutorial-06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Clean, validate, analyze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Validation</a:t>
            </a:r>
          </a:p>
        </p:txBody>
      </p:sp>
      <p:pic>
        <p:nvPicPr>
          <p:cNvPr id="3" name="Picture 2" descr="tutorial-07-valid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Graph integrity checks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Scale-Down</a:t>
            </a:r>
          </a:p>
        </p:txBody>
      </p:sp>
      <p:pic>
        <p:nvPicPr>
          <p:cNvPr id="3" name="Picture 2" descr="tutorial-08-scale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Sampling configuration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$ atg scale-stats --tenant-id &lt;ID&gt;</a:t>
            </a:r>
          </a:p>
          <a:p>
            <a:pPr>
              <a:defRPr sz="1600"/>
            </a:pPr>
            <a:r>
              <a:t>   → Check current graph state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scale-up scenario --scenario hub-spoke --spokes 5</a:t>
            </a:r>
          </a:p>
          <a:p>
            <a:pPr>
              <a:defRPr sz="1600"/>
            </a:pPr>
            <a:r>
              <a:t>   → Generate hub-spoke topology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scale-validate --check all</a:t>
            </a:r>
          </a:p>
          <a:p>
            <a:pPr>
              <a:defRPr sz="1600"/>
            </a:pPr>
            <a:r>
              <a:t>   → Verify graph integrity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scale-stats --detailed</a:t>
            </a:r>
          </a:p>
          <a:p>
            <a:pPr>
              <a:defRPr sz="1600"/>
            </a:pPr>
            <a:r>
              <a:t>   → View updated statistics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Testing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Comprehensive testing revealed real implementation issues: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Bugs Found and FIXED:</a:t>
            </a:r>
          </a:p>
          <a:p>
            <a:pPr>
              <a:defRPr sz="1600"/>
            </a:pPr>
            <a:r>
              <a:t>  • scale-clean label query - NOW FIXED (commit c2d1000)</a:t>
            </a:r>
          </a:p>
          <a:p>
            <a:pPr>
              <a:defRPr sz="1600"/>
            </a:pPr>
            <a:r>
              <a:t>  • scale-down delete mode - NOW FIXED (commit c2d1000)</a:t>
            </a:r>
          </a:p>
          <a:p>
            <a:pPr>
              <a:defRPr sz="1600"/>
            </a:pPr>
            <a:r>
              <a:t>  • CLI argument validation (fixed)</a:t>
            </a:r>
          </a:p>
          <a:p>
            <a:pPr>
              <a:defRPr sz="1600"/>
            </a:pPr>
            <a:r>
              <a:t>  • tenant_id filter bugs (fixed)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Testing Infrastructure:</a:t>
            </a:r>
          </a:p>
          <a:p>
            <a:pPr>
              <a:defRPr sz="1600"/>
            </a:pPr>
            <a:r>
              <a:t>  • 534 unit/integration/E2E tests</a:t>
            </a:r>
          </a:p>
          <a:p>
            <a:pPr>
              <a:defRPr sz="1600"/>
            </a:pPr>
            <a:r>
              <a:t>  • Real tenant data (DefenderATEVET17)</a:t>
            </a:r>
          </a:p>
          <a:p>
            <a:pPr>
              <a:defRPr sz="1600"/>
            </a:pPr>
            <a:r>
              <a:t>  • Pattern-based sampling proven effective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Scale-Up:</a:t>
            </a:r>
          </a:p>
          <a:p>
            <a:pPr>
              <a:defRPr sz="1600"/>
            </a:pPr>
            <a:r>
              <a:t>  • Template-based generation functional</a:t>
            </a:r>
          </a:p>
          <a:p>
            <a:pPr>
              <a:defRPr sz="1600"/>
            </a:pPr>
            <a:r>
              <a:t>  • Scenario generation (hub-spoke, multi-region)</a:t>
            </a:r>
          </a:p>
          <a:p>
            <a:pPr>
              <a:defRPr sz="1600"/>
            </a:pPr>
            <a:r>
              <a:t>  • Tested at scale (87k resources achieved)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Scale-Down:</a:t>
            </a:r>
          </a:p>
          <a:p>
            <a:pPr>
              <a:defRPr sz="1600"/>
            </a:pPr>
            <a:r>
              <a:t>  • Pattern-based sampling working (427 node sample)</a:t>
            </a:r>
          </a:p>
          <a:p>
            <a:pPr>
              <a:defRPr sz="1600"/>
            </a:pPr>
            <a:r>
              <a:t>  • Direct Neo4j queries effective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Visualization:</a:t>
            </a:r>
          </a:p>
          <a:p>
            <a:pPr>
              <a:defRPr sz="1600"/>
            </a:pPr>
            <a:r>
              <a:t>  • Synthetic node highlighting implemented</a:t>
            </a:r>
          </a:p>
          <a:p>
            <a:pPr>
              <a:defRPr sz="1600"/>
            </a:pPr>
            <a:r>
              <a:t>  • Orange color, dashed borders, 'S' indicator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provides working scale operations functionality.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Key Learnings:</a:t>
            </a:r>
          </a:p>
          <a:p>
            <a:pPr>
              <a:defRPr sz="1600"/>
            </a:pPr>
            <a:r>
              <a:t>  • End-to-end testing essential for finding real bugs</a:t>
            </a:r>
          </a:p>
          <a:p>
            <a:pPr>
              <a:defRPr sz="1600"/>
            </a:pPr>
            <a:r>
              <a:t>  • Graph topology impacts algorithm selection</a:t>
            </a:r>
          </a:p>
          <a:p>
            <a:pPr>
              <a:defRPr sz="1600"/>
            </a:pPr>
            <a:r>
              <a:t>  • Pattern-based approaches work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establishes a foundation with opportunities for</a:t>
            </a:r>
          </a:p>
          <a:p>
            <a:pPr>
              <a:defRPr sz="1600"/>
            </a:pPr>
            <a:r>
              <a:t>continued refinement based on deployment experience.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Feedback and real-world usage will guide improvements.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Multi-Layer Graph Projections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800"/>
            </a:pPr>
            <a:r>
              <a:t>Problem Solved:</a:t>
            </a:r>
          </a:p>
          <a:p>
            <a:pPr lvl="1">
              <a:spcAft>
                <a:spcPts val="1200"/>
              </a:spcAft>
              <a:defRPr sz="1400"/>
            </a:pPr>
            <a:r>
              <a:t>Original Issue: Scale operations destroyed data (5,584 → 56 nodes = 99% loss)</a:t>
            </a:r>
          </a:p>
          <a:p>
            <a:pPr>
              <a:spcAft>
                <a:spcPts val="1200"/>
              </a:spcAft>
              <a:defRPr b="1" sz="1800"/>
            </a:pPr>
            <a:r>
              <a:t>Solution: Multi-Layer Projections</a:t>
            </a:r>
          </a:p>
          <a:p>
            <a:pPr lvl="1">
              <a:defRPr sz="1400"/>
            </a:pPr>
            <a:r>
              <a:t>Store multiple abstracted graphs as independent 'layers'</a:t>
            </a:r>
          </a:p>
          <a:p>
            <a:pPr lvl="1">
              <a:defRPr sz="1400"/>
            </a:pPr>
            <a:r>
              <a:t>Each layer is a complete graph with its own nodes and relationships</a:t>
            </a:r>
          </a:p>
          <a:p>
            <a:pPr lvl="1">
              <a:defRPr sz="1400"/>
            </a:pPr>
            <a:r>
              <a:t>Original graph (5,584 nodes) preserved FOREVER - never touched</a:t>
            </a:r>
          </a:p>
          <a:p>
            <a:pPr lvl="1">
              <a:defRPr sz="1400"/>
            </a:pPr>
            <a:r>
              <a:t>Create unlimited scale variations without losing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 Independence &amp; Data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800"/>
            </a:pPr>
            <a:r>
              <a:t>Three-Tier Architecture:</a:t>
            </a:r>
          </a:p>
          <a:p>
            <a:pPr lvl="1">
              <a:defRPr sz="1400"/>
            </a:pPr>
            <a:r>
              <a:t>Tier 1: Original Graph (:Resource:Original) - 5,584 nodes, IMMUTABLE</a:t>
            </a:r>
          </a:p>
          <a:p>
            <a:pPr lvl="1">
              <a:defRPr sz="1400"/>
            </a:pPr>
            <a:r>
              <a:t>Tier 2: Layer Metadata (:Layer nodes) - Tracks all layers</a:t>
            </a:r>
          </a:p>
          <a:p>
            <a:pPr lvl="1">
              <a:spcAft>
                <a:spcPts val="1600"/>
              </a:spcAft>
              <a:defRPr sz="1400"/>
            </a:pPr>
            <a:r>
              <a:t>Tier 3: Abstracted Layers (:Resource + layer_id property)</a:t>
            </a:r>
          </a:p>
          <a:p>
            <a:pPr>
              <a:spcAft>
                <a:spcPts val="1200"/>
              </a:spcAft>
              <a:defRPr b="1" sz="1800"/>
            </a:pPr>
            <a:r>
              <a:t>Layer Independence:</a:t>
            </a:r>
          </a:p>
          <a:p>
            <a:pPr lvl="1">
              <a:defRPr sz="1400"/>
            </a:pPr>
            <a:r>
              <a:t>Each layer has unique layer_id property on all nodes</a:t>
            </a:r>
          </a:p>
          <a:p>
            <a:pPr lvl="1">
              <a:defRPr sz="1400"/>
            </a:pPr>
            <a:r>
              <a:t>Layers are completely isolated - modifying one never affects others</a:t>
            </a:r>
          </a:p>
          <a:p>
            <a:pPr lvl="1">
              <a:defRPr sz="1400"/>
            </a:pPr>
            <a:r>
              <a:t>Delete a layer → only nodes with that layer_id are removed</a:t>
            </a:r>
          </a:p>
          <a:p>
            <a:pPr lvl="1">
              <a:defRPr sz="1400"/>
            </a:pPr>
            <a:r>
              <a:t>Original nodes have SCAN_SOURCE_NODE links - always recoverable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 Management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800"/>
            </a:pPr>
            <a:r>
              <a:t>11 New CLI Commands:</a:t>
            </a:r>
          </a:p>
          <a:p>
            <a:pPr lvl="1">
              <a:defRPr sz="1200" b="1"/>
            </a:pPr>
            <a:r>
              <a:t>atg layer list</a:t>
            </a:r>
          </a:p>
          <a:p>
            <a:pPr lvl="2">
              <a:defRPr sz="1100"/>
            </a:pPr>
            <a:r>
              <a:t>Show all layers with stats</a:t>
            </a:r>
          </a:p>
          <a:p>
            <a:pPr lvl="1">
              <a:defRPr sz="1200" b="1"/>
            </a:pPr>
            <a:r>
              <a:t>atg layer show &lt;id&gt;</a:t>
            </a:r>
          </a:p>
          <a:p>
            <a:pPr lvl="2">
              <a:defRPr sz="1100"/>
            </a:pPr>
            <a:r>
              <a:t>Display layer details</a:t>
            </a:r>
          </a:p>
          <a:p>
            <a:pPr lvl="1">
              <a:defRPr sz="1200" b="1"/>
            </a:pPr>
            <a:r>
              <a:t>atg layer active</a:t>
            </a:r>
          </a:p>
          <a:p>
            <a:pPr lvl="2">
              <a:defRPr sz="1100"/>
            </a:pPr>
            <a:r>
              <a:t>Show/set active layer</a:t>
            </a:r>
          </a:p>
          <a:p>
            <a:pPr lvl="1">
              <a:defRPr sz="1200" b="1"/>
            </a:pPr>
            <a:r>
              <a:t>atg layer create &lt;id&gt;</a:t>
            </a:r>
          </a:p>
          <a:p>
            <a:pPr lvl="2">
              <a:defRPr sz="1100"/>
            </a:pPr>
            <a:r>
              <a:t>Create new empty layer</a:t>
            </a:r>
          </a:p>
          <a:p>
            <a:pPr lvl="1">
              <a:defRPr sz="1200" b="1"/>
            </a:pPr>
            <a:r>
              <a:t>atg layer copy &lt;src&gt; &lt;dst&gt;</a:t>
            </a:r>
          </a:p>
          <a:p>
            <a:pPr lvl="2">
              <a:defRPr sz="1100"/>
            </a:pPr>
            <a:r>
              <a:t>Duplicate entire layer</a:t>
            </a:r>
          </a:p>
          <a:p>
            <a:pPr lvl="1">
              <a:defRPr sz="1200" b="1"/>
            </a:pPr>
            <a:r>
              <a:t>atg layer diff &lt;l1&gt; &lt;l2&gt;</a:t>
            </a:r>
          </a:p>
          <a:p>
            <a:pPr lvl="2">
              <a:defRPr sz="1100"/>
            </a:pPr>
            <a:r>
              <a:t>Compare two layers</a:t>
            </a:r>
          </a:p>
          <a:p>
            <a:pPr lvl="1">
              <a:defRPr sz="1200" b="1"/>
            </a:pPr>
            <a:r>
              <a:t>atg layer delete &lt;id&gt;</a:t>
            </a:r>
          </a:p>
          <a:p>
            <a:pPr lvl="2">
              <a:defRPr sz="1100"/>
            </a:pPr>
            <a:r>
              <a:t>Remove layer (safe - doesn't affect others)</a:t>
            </a:r>
          </a:p>
          <a:p>
            <a:pPr lvl="1">
              <a:defRPr sz="1200" b="1"/>
            </a:pPr>
            <a:r>
              <a:t>atg layer validate &lt;id&gt;</a:t>
            </a:r>
          </a:p>
          <a:p>
            <a:pPr lvl="2">
              <a:defRPr sz="1100"/>
            </a:pPr>
            <a:r>
              <a:t>Check layer integrity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Non-Destructive Scale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800"/>
            </a:pPr>
            <a:r>
              <a:t>Before (PR #435): Destructive Operations</a:t>
            </a:r>
          </a:p>
          <a:p>
            <a:pPr lvl="1">
              <a:defRPr sz="1400"/>
            </a:pPr>
            <a:r>
              <a:t>scale-up/scale-down modified or deleted abstracted nodes</a:t>
            </a:r>
          </a:p>
          <a:p>
            <a:pPr lvl="1">
              <a:spcAft>
                <a:spcPts val="1600"/>
              </a:spcAft>
              <a:defRPr sz="1400"/>
            </a:pPr>
            <a:r>
              <a:t>Testing caused 99% data loss (5,584 → 56 nodes)</a:t>
            </a:r>
          </a:p>
          <a:p>
            <a:pPr>
              <a:spcAft>
                <a:spcPts val="1200"/>
              </a:spcAft>
              <a:defRPr b="1" sz="1800"/>
            </a:pPr>
            <a:r>
              <a:t>After (PR #459): Non-Destructive with --new-layer</a:t>
            </a:r>
          </a:p>
          <a:p>
            <a:pPr lvl="1">
              <a:defRPr sz="1200">
                <a:latin typeface="Courier New"/>
              </a:defRPr>
            </a:pPr>
            <a:r>
              <a:t>atg scale-up --new-layer scaled-10x --scale-factor 10</a:t>
            </a:r>
          </a:p>
          <a:p>
            <a:pPr lvl="1">
              <a:defRPr sz="1400"/>
            </a:pPr>
            <a:r>
              <a:t>Creates NEW layer, original preserved (56 → 56 + 560 nodes)</a:t>
            </a:r>
          </a:p>
          <a:p>
            <a:pPr lvl="1">
              <a:defRPr sz="1200">
                <a:latin typeface="Courier New"/>
              </a:defRPr>
            </a:pPr>
            <a:r>
              <a:t>atg scale-down --new-layer small-test --sample-size 50</a:t>
            </a:r>
          </a:p>
          <a:p>
            <a:pPr lvl="1">
              <a:defRPr sz="1400"/>
            </a:pPr>
            <a:r>
              <a:t>Creates NEW layer, both others untouched (56 + 560 + 50 nodes)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Multi-Environment 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/>
            </a:pPr>
            <a:r>
              <a:t>Use Case: Deploy Different Scales to Different Environments</a:t>
            </a:r>
          </a:p>
          <a:p>
            <a:pPr>
              <a:defRPr b="1" sz="1400"/>
            </a:pPr>
            <a:r>
              <a:t>Dev Environment (Baseline):</a:t>
            </a:r>
          </a:p>
          <a:p>
            <a:pPr lvl="1">
              <a:defRPr sz="1100">
                <a:latin typeface="Courier New"/>
              </a:defRPr>
            </a:pPr>
            <a:r>
              <a:t>atg layer active default</a:t>
            </a:r>
          </a:p>
          <a:p>
            <a:pPr lvl="1">
              <a:spcAft>
                <a:spcPts val="1200"/>
              </a:spcAft>
              <a:defRPr sz="1100">
                <a:latin typeface="Courier New"/>
              </a:defRPr>
            </a:pPr>
            <a:r>
              <a:t>atg generate-iac --target-tenant dev-id → 56 resources deployed</a:t>
            </a:r>
          </a:p>
          <a:p>
            <a:pPr>
              <a:defRPr b="1" sz="1400"/>
            </a:pPr>
            <a:r>
              <a:t>Test Environment (10x Scale):</a:t>
            </a:r>
          </a:p>
          <a:p>
            <a:pPr lvl="1">
              <a:defRPr sz="1100">
                <a:latin typeface="Courier New"/>
              </a:defRPr>
            </a:pPr>
            <a:r>
              <a:t>atg layer active scaled-10x</a:t>
            </a:r>
          </a:p>
          <a:p>
            <a:pPr lvl="1">
              <a:spcAft>
                <a:spcPts val="1200"/>
              </a:spcAft>
              <a:defRPr sz="1100">
                <a:latin typeface="Courier New"/>
              </a:defRPr>
            </a:pPr>
            <a:r>
              <a:t>atg generate-iac --target-tenant test-id → 560 resources deployed</a:t>
            </a:r>
          </a:p>
          <a:p>
            <a:pPr>
              <a:defRPr b="1" sz="1400"/>
            </a:pPr>
            <a:r>
              <a:t>Sandbox (Minimal):</a:t>
            </a:r>
          </a:p>
          <a:p>
            <a:pPr lvl="1">
              <a:defRPr sz="1100">
                <a:latin typeface="Courier New"/>
              </a:defRPr>
            </a:pPr>
            <a:r>
              <a:t>atg layer active small-test</a:t>
            </a:r>
          </a:p>
          <a:p>
            <a:pPr lvl="1">
              <a:defRPr sz="1100">
                <a:latin typeface="Courier New"/>
              </a:defRPr>
            </a:pPr>
            <a:r>
              <a:t>atg generate-iac --target-tenant sandbox-id → 50 resources deployed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