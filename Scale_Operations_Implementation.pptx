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4630400" cy="82296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pPr>
              <a:defRPr sz="4800"/>
            </a:pPr>
            <a:r>
              <a:t>Scale Operations for Azure Tenant Grapher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Implementation &amp; Testing Results • Issue #427 • November 2025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Implementation Scope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pPr>
              <a:defRPr sz="2000"/>
            </a:pPr>
            <a:r>
              <a:t>Scale-UP: Synthetic resource generation for testing</a:t>
            </a:r>
          </a:p>
          <a:p>
            <a:pPr>
              <a:defRPr sz="2000"/>
            </a:pPr>
            <a:r>
              <a:t>Scale-DOWN: Representative subset extraction</a:t>
            </a:r>
          </a:p>
          <a:p>
            <a:pPr>
              <a:defRPr sz="2000"/>
            </a:pPr>
            <a:r>
              <a:t>Services: 7 Python services with comprehensive functionality</a:t>
            </a:r>
          </a:p>
          <a:p>
            <a:pPr>
              <a:defRPr sz="2000"/>
            </a:pPr>
            <a:r>
              <a:t>CLI: 7 commands for all operations</a:t>
            </a:r>
          </a:p>
          <a:p>
            <a:pPr>
              <a:defRPr sz="2000"/>
            </a:pPr>
            <a:r>
              <a:t>UI: 12 React components with real-time updates</a:t>
            </a:r>
          </a:p>
          <a:p>
            <a:pPr>
              <a:defRPr sz="2000"/>
            </a:pPr>
            <a:r>
              <a:t>Testing: 534 tests across multiple frameworks</a:t>
            </a:r>
          </a:p>
          <a:p>
            <a:pPr>
              <a:defRPr sz="2000"/>
            </a:pPr>
            <a:r>
              <a:t>Documentation: 40+ comprehensive guides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137160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/>
            </a:pPr>
            <a:r>
              <a:t>Architecture: Dual-Graph Design</a:t>
            </a:r>
          </a:p>
        </p:txBody>
      </p:sp>
      <p:pic>
        <p:nvPicPr>
          <p:cNvPr id="3" name="Picture 2" descr="dual-graph-archite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914400"/>
            <a:ext cx="13716000" cy="5100277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7315200"/>
            <a:ext cx="137160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/>
            </a:pPr>
            <a:r>
              <a:t>Scale operations work only on abstracted layer, preserving original scan data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137160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/>
            </a:pPr>
            <a:r>
              <a:t>Scale-Up Operation Flow</a:t>
            </a:r>
          </a:p>
        </p:txBody>
      </p:sp>
      <p:pic>
        <p:nvPicPr>
          <p:cNvPr id="3" name="Picture 2" descr="scale-up-sequen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914400"/>
            <a:ext cx="13716000" cy="21949922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7315200"/>
            <a:ext cx="137160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/>
            </a:pPr>
            <a:r>
              <a:t>Complete sequence from CLI command to validated results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137160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/>
            </a:pPr>
            <a:r>
              <a:t>Scale-Down Pipeline</a:t>
            </a:r>
          </a:p>
        </p:txBody>
      </p:sp>
      <p:pic>
        <p:nvPicPr>
          <p:cNvPr id="3" name="Picture 2" descr="scale-down-pipeli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914400"/>
            <a:ext cx="13716000" cy="443752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7315200"/>
            <a:ext cx="137160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/>
            </a:pPr>
            <a:r>
              <a:t>Four-stage pipeline: Extract → Sample → Validate → Export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137160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/>
            </a:pPr>
            <a:r>
              <a:t>Component Architecture</a:t>
            </a:r>
          </a:p>
        </p:txBody>
      </p:sp>
      <p:pic>
        <p:nvPicPr>
          <p:cNvPr id="3" name="Picture 2" descr="component-archite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914400"/>
            <a:ext cx="13716000" cy="267260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7315200"/>
            <a:ext cx="137160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/>
            </a:pPr>
            <a:r>
              <a:t>Service hierarchy and dependencies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Integration Test: Baseline State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pPr>
              <a:defRPr sz="2000"/>
            </a:pPr>
            <a:r>
              <a:t>DefenderATEVET17 Tenant (Before Scale Operations):</a:t>
            </a:r>
          </a:p>
          <a:p>
            <a:pPr>
              <a:defRPr sz="2000"/>
            </a:pPr>
          </a:p>
          <a:p>
            <a:pPr>
              <a:defRPr sz="2000"/>
            </a:pPr>
            <a:r>
              <a:t>  • Original resources: 2,936</a:t>
            </a:r>
          </a:p>
          <a:p>
            <a:pPr>
              <a:defRPr sz="2000"/>
            </a:pPr>
            <a:r>
              <a:t>  • Abstracted resources: 2,766</a:t>
            </a:r>
          </a:p>
          <a:p>
            <a:pPr>
              <a:defRPr sz="2000"/>
            </a:pPr>
            <a:r>
              <a:t>  • Synthetic resources: 0</a:t>
            </a:r>
          </a:p>
          <a:p>
            <a:pPr>
              <a:defRPr sz="2000"/>
            </a:pPr>
            <a:r>
              <a:t>  • Total relationships: 6,825</a:t>
            </a:r>
          </a:p>
          <a:p>
            <a:pPr>
              <a:defRPr sz="2000"/>
            </a:pPr>
          </a:p>
          <a:p>
            <a:pPr>
              <a:defRPr sz="2000"/>
            </a:pPr>
            <a:r>
              <a:t>Resource types: VMs, VNets, NSGs, Storage, Entra ID, etc.</a:t>
            </a:r>
          </a:p>
          <a:p>
            <a:pPr>
              <a:defRPr sz="2000"/>
            </a:pPr>
            <a:r>
              <a:t>This represents a real production Azure tenant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Integration Test: After 10x Scale-Up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pPr>
              <a:defRPr sz="2000"/>
            </a:pPr>
            <a:r>
              <a:t>DefenderATEVET17 Tenant (After Scale Operations):</a:t>
            </a:r>
          </a:p>
          <a:p>
            <a:pPr>
              <a:defRPr sz="2000"/>
            </a:pPr>
          </a:p>
          <a:p>
            <a:pPr>
              <a:defRPr sz="2000"/>
            </a:pPr>
            <a:r>
              <a:t>  • Original resources: 2,936 (unchanged)</a:t>
            </a:r>
          </a:p>
          <a:p>
            <a:pPr>
              <a:defRPr sz="2000"/>
            </a:pPr>
            <a:r>
              <a:t>  • Abstracted (real): 2,766 (unchanged)</a:t>
            </a:r>
          </a:p>
          <a:p>
            <a:pPr>
              <a:defRPr sz="2000"/>
            </a:pPr>
            <a:r>
              <a:t>  • Synthetic resources: 74,397 (created)</a:t>
            </a:r>
          </a:p>
          <a:p>
            <a:pPr>
              <a:defRPr sz="2000"/>
            </a:pPr>
            <a:r>
              <a:t>  • Total abstracted: 77,163 (27x growth)</a:t>
            </a:r>
          </a:p>
          <a:p>
            <a:pPr>
              <a:defRPr sz="2000"/>
            </a:pPr>
          </a:p>
          <a:p>
            <a:pPr>
              <a:defRPr sz="2000"/>
            </a:pPr>
            <a:r>
              <a:t>Peak throughput: 329 resources/second</a:t>
            </a:r>
          </a:p>
          <a:p>
            <a:pPr>
              <a:defRPr sz="2000"/>
            </a:pPr>
            <a:r>
              <a:t>Validation: All checks passed</a:t>
            </a:r>
          </a:p>
          <a:p>
            <a:pPr>
              <a:defRPr sz="2000"/>
            </a:pPr>
            <a:r>
              <a:t>Evidence: integration-test-evidence/ directory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Integration Test: Scale-Down to 10% Sample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pPr>
              <a:defRPr sz="2000"/>
            </a:pPr>
            <a:r>
              <a:t>Sampling from 77k resources:</a:t>
            </a:r>
          </a:p>
          <a:p>
            <a:pPr>
              <a:defRPr sz="2000"/>
            </a:pPr>
          </a:p>
          <a:p>
            <a:pPr>
              <a:defRPr sz="2000"/>
            </a:pPr>
            <a:r>
              <a:t>  • Algorithm: Forest Fire (preserves communities)</a:t>
            </a:r>
          </a:p>
          <a:p>
            <a:pPr>
              <a:defRPr sz="2000"/>
            </a:pPr>
            <a:r>
              <a:t>  • Target size: 10% (~7,700 resources)</a:t>
            </a:r>
          </a:p>
          <a:p>
            <a:pPr>
              <a:defRPr sz="2000"/>
            </a:pPr>
            <a:r>
              <a:t>  • Quality metrics: Degree distribution preserved</a:t>
            </a:r>
          </a:p>
          <a:p>
            <a:pPr>
              <a:defRPr sz="2000"/>
            </a:pPr>
            <a:r>
              <a:t>  • Export format: YAML for analysis</a:t>
            </a:r>
          </a:p>
          <a:p>
            <a:pPr>
              <a:defRPr sz="2000"/>
            </a:pPr>
          </a:p>
          <a:p>
            <a:pPr>
              <a:defRPr sz="2000"/>
            </a:pPr>
            <a:r>
              <a:t>Use case: Extract security-relevant subset</a:t>
            </a:r>
          </a:p>
          <a:p>
            <a:pPr>
              <a:defRPr sz="2000"/>
            </a:pPr>
            <a:r>
              <a:t>Result: Representative sample maintaining graph properties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CLI Tutorial: Scale-Up Operations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pPr>
              <a:defRPr sz="2000"/>
            </a:pPr>
            <a:r>
              <a:t>1. Check current state:</a:t>
            </a:r>
          </a:p>
          <a:p>
            <a:pPr>
              <a:defRPr sz="2000"/>
            </a:pPr>
            <a:r>
              <a:t>   $ atg scale-stats --tenant-id &lt;ID&gt;</a:t>
            </a:r>
          </a:p>
          <a:p>
            <a:pPr>
              <a:defRPr sz="2000"/>
            </a:pPr>
          </a:p>
          <a:p>
            <a:pPr>
              <a:defRPr sz="2000"/>
            </a:pPr>
            <a:r>
              <a:t>2. Create synthetic resources (template-based):</a:t>
            </a:r>
          </a:p>
          <a:p>
            <a:pPr>
              <a:defRPr sz="2000"/>
            </a:pPr>
            <a:r>
              <a:t>   $ atg scale-up template --template-file my-template.yaml</a:t>
            </a:r>
          </a:p>
          <a:p>
            <a:pPr>
              <a:defRPr sz="2000"/>
            </a:pPr>
          </a:p>
          <a:p>
            <a:pPr>
              <a:defRPr sz="2000"/>
            </a:pPr>
            <a:r>
              <a:t>3. Or use scenario generation:</a:t>
            </a:r>
          </a:p>
          <a:p>
            <a:pPr>
              <a:defRPr sz="2000"/>
            </a:pPr>
            <a:r>
              <a:t>   $ atg scale-up scenario --scenario hub-spoke --spokes 5</a:t>
            </a:r>
          </a:p>
          <a:p>
            <a:pPr>
              <a:defRPr sz="2000"/>
            </a:pPr>
          </a:p>
          <a:p>
            <a:pPr>
              <a:defRPr sz="2000"/>
            </a:pPr>
            <a:r>
              <a:t>4. Validate results:</a:t>
            </a:r>
          </a:p>
          <a:p>
            <a:pPr>
              <a:defRPr sz="2000"/>
            </a:pPr>
            <a:r>
              <a:t>   $ atg scale-validate --check all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CLI Tutorial: Scale-Down Operations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pPr>
              <a:defRPr sz="2000"/>
            </a:pPr>
            <a:r>
              <a:t>1. Sample with Forest Fire algorithm:</a:t>
            </a:r>
          </a:p>
          <a:p>
            <a:pPr>
              <a:defRPr sz="2000"/>
            </a:pPr>
            <a:r>
              <a:t>   $ atg scale-down algorithm --algorithm forest-fire --target-size 0.1</a:t>
            </a:r>
          </a:p>
          <a:p>
            <a:pPr>
              <a:defRPr sz="2000"/>
            </a:pPr>
          </a:p>
          <a:p>
            <a:pPr>
              <a:defRPr sz="2000"/>
            </a:pPr>
            <a:r>
              <a:t>2. Or filter by pattern:</a:t>
            </a:r>
          </a:p>
          <a:p>
            <a:pPr>
              <a:defRPr sz="2000"/>
            </a:pPr>
            <a:r>
              <a:t>   $ atg scale-down pattern --pattern security</a:t>
            </a:r>
          </a:p>
          <a:p>
            <a:pPr>
              <a:defRPr sz="2000"/>
            </a:pPr>
          </a:p>
          <a:p>
            <a:pPr>
              <a:defRPr sz="2000"/>
            </a:pPr>
            <a:r>
              <a:t>3. Export to file:</a:t>
            </a:r>
          </a:p>
          <a:p>
            <a:pPr>
              <a:defRPr sz="2000"/>
            </a:pPr>
            <a:r>
              <a:t>   --output-mode file --output-file subset.yaml</a:t>
            </a:r>
          </a:p>
          <a:p>
            <a:pPr>
              <a:defRPr sz="2000"/>
            </a:pPr>
          </a:p>
          <a:p>
            <a:pPr>
              <a:defRPr sz="2000"/>
            </a:pPr>
            <a:r>
              <a:t>4. Or create new tenant:</a:t>
            </a:r>
          </a:p>
          <a:p>
            <a:pPr>
              <a:defRPr sz="2000"/>
            </a:pPr>
            <a:r>
              <a:t>   --output-mode new-tenant --new-tenant-name sample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Code: How Scale-Up Works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pPr>
              <a:defRPr sz="2000"/>
            </a:pPr>
            <a:r>
              <a:t>ScaleUpService.scale_up_template():</a:t>
            </a:r>
          </a:p>
          <a:p>
            <a:pPr>
              <a:defRPr sz="2000"/>
            </a:pPr>
            <a:r>
              <a:t>  1. Validate tenant and parameters</a:t>
            </a:r>
          </a:p>
          <a:p>
            <a:pPr>
              <a:defRPr sz="2000"/>
            </a:pPr>
            <a:r>
              <a:t>  2. Query base resources (abstracted layer only)</a:t>
            </a:r>
          </a:p>
          <a:p>
            <a:pPr>
              <a:defRPr sz="2000"/>
            </a:pPr>
            <a:r>
              <a:t>  3. Generate synthetic IDs (synthetic-{type}-{uuid})</a:t>
            </a:r>
          </a:p>
          <a:p>
            <a:pPr>
              <a:defRPr sz="2000"/>
            </a:pPr>
            <a:r>
              <a:t>  4. Clone properties and add markers</a:t>
            </a:r>
          </a:p>
          <a:p>
            <a:pPr>
              <a:defRPr sz="2000"/>
            </a:pPr>
            <a:r>
              <a:t>  5. Batch insert nodes (adaptive batching)</a:t>
            </a:r>
          </a:p>
          <a:p>
            <a:pPr>
              <a:defRPr sz="2000"/>
            </a:pPr>
            <a:r>
              <a:t>  6. Duplicate relationships in abstracted graph</a:t>
            </a:r>
          </a:p>
          <a:p>
            <a:pPr>
              <a:defRPr sz="2000"/>
            </a:pPr>
            <a:r>
              <a:t>  7. Validate no :Original contamination</a:t>
            </a:r>
          </a:p>
          <a:p>
            <a:pPr>
              <a:defRPr sz="2000"/>
            </a:pPr>
            <a:r>
              <a:t>  8. Return metrics (nodes, relationships, time)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Code: How Scale-Down Works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pPr>
              <a:defRPr sz="2000"/>
            </a:pPr>
            <a:r>
              <a:t>ScaleDownService.sample_graph():</a:t>
            </a:r>
          </a:p>
          <a:p>
            <a:pPr>
              <a:defRPr sz="2000"/>
            </a:pPr>
            <a:r>
              <a:t>  1. Extract Neo4j → NetworkX (streaming batches)</a:t>
            </a:r>
          </a:p>
          <a:p>
            <a:pPr>
              <a:defRPr sz="2000"/>
            </a:pPr>
            <a:r>
              <a:t>  2. Convert string IDs → integers (littleballoffur requirement)</a:t>
            </a:r>
          </a:p>
          <a:p>
            <a:pPr>
              <a:defRPr sz="2000"/>
            </a:pPr>
            <a:r>
              <a:t>  3. Apply sampling algorithm (Forest Fire/MHRW/Random Walk)</a:t>
            </a:r>
          </a:p>
          <a:p>
            <a:pPr>
              <a:defRPr sz="2000"/>
            </a:pPr>
            <a:r>
              <a:t>  4. Convert sampled integers → original string IDs</a:t>
            </a:r>
          </a:p>
          <a:p>
            <a:pPr>
              <a:defRPr sz="2000"/>
            </a:pPr>
            <a:r>
              <a:t>  5. Calculate quality metrics (degree distribution, clustering)</a:t>
            </a:r>
          </a:p>
          <a:p>
            <a:pPr>
              <a:defRPr sz="2000"/>
            </a:pPr>
            <a:r>
              <a:t>  6. Export sampled subset (YAML/JSON/IaC)</a:t>
            </a:r>
          </a:p>
          <a:p>
            <a:pPr>
              <a:defRPr sz="2000"/>
            </a:pPr>
            <a:r>
              <a:t>  7. Optionally create new tenant database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Performance &amp; Quality Metrics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pPr>
              <a:defRPr sz="2000"/>
            </a:pPr>
            <a:r>
              <a:t>Testing:</a:t>
            </a:r>
          </a:p>
          <a:p>
            <a:pPr>
              <a:defRPr sz="2000"/>
            </a:pPr>
            <a:r>
              <a:t>  • 534 total tests (96% passing)</a:t>
            </a:r>
          </a:p>
          <a:p>
            <a:pPr>
              <a:defRPr sz="2000"/>
            </a:pPr>
            <a:r>
              <a:t>  • 77k resources scaled successfully</a:t>
            </a:r>
          </a:p>
          <a:p>
            <a:pPr>
              <a:defRPr sz="2000"/>
            </a:pPr>
            <a:r>
              <a:t>  • 329 resources/second peak throughput</a:t>
            </a:r>
          </a:p>
          <a:p>
            <a:pPr>
              <a:defRPr sz="2000"/>
            </a:pPr>
          </a:p>
          <a:p>
            <a:pPr>
              <a:defRPr sz="2000"/>
            </a:pPr>
            <a:r>
              <a:t>Optimizations:</a:t>
            </a:r>
          </a:p>
          <a:p>
            <a:pPr>
              <a:defRPr sz="2000"/>
            </a:pPr>
            <a:r>
              <a:t>  • Adaptive batching (100-10,000)</a:t>
            </a:r>
          </a:p>
          <a:p>
            <a:pPr>
              <a:defRPr sz="2000"/>
            </a:pPr>
            <a:r>
              <a:t>  • Parallel processing (5 concurrent)</a:t>
            </a:r>
          </a:p>
          <a:p>
            <a:pPr>
              <a:defRPr sz="2000"/>
            </a:pPr>
            <a:r>
              <a:t>  • Neo4j indexes (6 critical paths)</a:t>
            </a:r>
          </a:p>
          <a:p>
            <a:pPr>
              <a:defRPr sz="2000"/>
            </a:pPr>
          </a:p>
          <a:p>
            <a:pPr>
              <a:defRPr sz="2000"/>
            </a:pPr>
            <a:r>
              <a:t>Security: All Cypher injection vulnerabilities fixed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Opportunities for Enhancement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pPr>
              <a:defRPr sz="2000"/>
            </a:pPr>
            <a:r>
              <a:t>Performance: Further optimization for &gt;100k resources</a:t>
            </a:r>
          </a:p>
          <a:p>
            <a:pPr>
              <a:defRPr sz="2000"/>
            </a:pPr>
            <a:r>
              <a:t>Algorithms: More sophisticated motif discovery (FANMOD/MODA)</a:t>
            </a:r>
          </a:p>
          <a:p>
            <a:pPr>
              <a:defRPr sz="2000"/>
            </a:pPr>
            <a:r>
              <a:t>Visualization: Additional graph view options</a:t>
            </a:r>
          </a:p>
          <a:p>
            <a:pPr>
              <a:defRPr sz="2000"/>
            </a:pPr>
            <a:r>
              <a:t>Testing: Expanded UI test scenarios</a:t>
            </a:r>
          </a:p>
          <a:p>
            <a:pPr>
              <a:defRPr sz="2000"/>
            </a:pPr>
            <a:r>
              <a:t>Feedback: Refinements based on real-world usage</a:t>
            </a:r>
          </a:p>
          <a:p>
            <a:pPr>
              <a:defRPr sz="2000"/>
            </a:pPr>
          </a:p>
          <a:p>
            <a:pPr>
              <a:defRPr sz="2000"/>
            </a:pPr>
            <a:r>
              <a:t>This implementation provides a solid foundation with</a:t>
            </a:r>
          </a:p>
          <a:p>
            <a:pPr>
              <a:defRPr sz="2000"/>
            </a:pPr>
            <a:r>
              <a:t>room to grow based on actual deployment experience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