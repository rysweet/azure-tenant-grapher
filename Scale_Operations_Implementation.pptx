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ascii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thumbnail" Target="docProps/thumbnail.jpeg"/>
  <Relationship Id="rId3" Type="http://schemas.openxmlformats.org/package/2006/relationships/metadata/core-properties" Target="docProps/core.xml"/>
  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ascii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printerSettings" Target="printerSettings/printerSettings1.bin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  <Relationship Id="rId6" Type="http://schemas.openxmlformats.org/officeDocument/2006/relationships/tableStyles" Target="tableStyles.xml"/>
  <Relationship Id="rId7" Type="http://schemas.openxmlformats.org/officeDocument/2006/relationships/slide" Target="slides/slide1.xml"/>
  <Relationship Id="rId8" Type="http://schemas.openxmlformats.org/officeDocument/2006/relationships/slide" Target="slides/slide2.xml"/>
  <Relationship Id="rId9" Type="http://schemas.openxmlformats.org/officeDocument/2006/relationships/slide" Target="slides/slide3.xml"/>
  <Relationship Id="rId10" Type="http://schemas.openxmlformats.org/officeDocument/2006/relationships/slide" Target="slides/slide4.xml"/>
  <Relationship Id="rId11" Type="http://schemas.openxmlformats.org/officeDocument/2006/relationships/slide" Target="slides/slide5.xml"/>
  <Relationship Id="rId12" Type="http://schemas.openxmlformats.org/officeDocument/2006/relationships/slide" Target="slides/slide6.xml"/>
  <Relationship Id="rId13" Type="http://schemas.openxmlformats.org/officeDocument/2006/relationships/slide" Target="slides/slide7.xml"/>
  <Relationship Id="rId14" Type="http://schemas.openxmlformats.org/officeDocument/2006/relationships/slide" Target="slides/slide8.xml"/>
  <Relationship Id="rId15" Type="http://schemas.openxmlformats.org/officeDocument/2006/relationships/slide" Target="slides/slide9.xml"/>
  <Relationship Id="rId16" Type="http://schemas.openxmlformats.org/officeDocument/2006/relationships/slide" Target="slides/slide10.xml"/>
  <Relationship Id="rId17" Type="http://schemas.openxmlformats.org/officeDocument/2006/relationships/slide" Target="slides/slide11.xml"/>
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</Relationships>

</file>

<file path=ppt/slideLayouts/_rels/slideLayout1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6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7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8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9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10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11.xml.rels><?xml version="1.0" encoding="ascii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3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1.png"/>
</Relationships>

</file>

<file path=ppt/slides/_rels/slide4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2.png"/>
</Relationships>

</file>

<file path=ppt/slides/_rels/slide5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3.png"/>
</Relationships>

</file>

<file path=ppt/slides/_rels/slide6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4.png"/>
</Relationships>

</file>

<file path=ppt/slides/_rels/slide7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8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5.png"/>
</Relationships>

</file>

<file path=ppt/slides/_rels/slide9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6.png"/>
</Relationships>

</file>

<file path=ppt/slides/_rels/slide10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7.png"/>
</Relationships>

</file>

<file path=ppt/slides/_rels/slide11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8.png"/>
</Relationships>

</file>

<file path=ppt/slides/_rels/slide12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9.png"/>
</Relationships>

</file>

<file path=ppt/slides/_rels/slide13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10.png"/>
</Relationships>

</file>

<file path=ppt/slides/_rels/slide14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11.png"/>
</Relationships>

</file>

<file path=ppt/slides/_rels/slide15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12.png"/>
</Relationships>

</file>

<file path=ppt/slides/_rels/slide16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7.xml"/>
  <Relationship Id="rId2" Type="http://schemas.openxmlformats.org/officeDocument/2006/relationships/image" Target="../media/image13.png"/>
</Relationships>

</file>

<file path=ppt/slides/_rels/slide17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18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19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20.xml.rels><?xml version="1.0" encoding="ascii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of scale-up and scale-down operations</a:t>
            </a:r>
          </a:p>
          <a:p>
            <a:pPr>
              <a:defRPr sz="1600"/>
            </a:pPr>
            <a:r>
              <a:t>7 Python services, 7 CLI commands, 12 UI React components</a:t>
            </a:r>
          </a:p>
          <a:p>
            <a:pPr>
              <a:defRPr sz="1600"/>
            </a:pPr>
            <a:r>
              <a:t>Tested with real DefenderATEVET17 tenant data</a:t>
            </a:r>
          </a:p>
          <a:p>
            <a:pPr>
              <a:defRPr sz="1600"/>
            </a:pPr>
            <a:r>
              <a:t>Multiple bugs found and fixed through end-to-end testing</a:t>
            </a:r>
          </a:p>
          <a:p>
            <a:pPr>
              <a:defRPr sz="1600"/>
            </a:pPr>
            <a:r>
              <a:t>Comprehensive documentation and architecture diagrams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represents initial implementation with room for</a:t>
            </a:r>
          </a:p>
          <a:p>
            <a:pPr>
              <a:defRPr sz="1600"/>
            </a:pPr>
            <a:r>
              <a:t>continued improvement based on real-world usage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Architecture: Dual-Graph Design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59839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Scale operations work only on abstracted layer, preserving original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Scale-Up Operation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7140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Complete sequence from CLI to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371127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Extract → Sample → Validate →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503004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DefenderATEVET17 Original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Command: atg scan --tenant-id 3cd87a41-1f61-4aef-a212-cefdecd9a2d1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Total Nodes: 5,386</a:t>
            </a:r>
          </a:p>
          <a:p>
            <a:pPr>
              <a:defRPr sz="1600"/>
            </a:pPr>
            <a:r>
              <a:t>Total Relationships: 180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Top Resource Types:</a:t>
            </a:r>
          </a:p>
          <a:p>
            <a:pPr>
              <a:defRPr sz="1600"/>
            </a:pPr>
            <a:r>
              <a:t>  • Subnets: 2,276</a:t>
            </a:r>
          </a:p>
          <a:p>
            <a:pPr>
              <a:defRPr sz="1600"/>
            </a:pPr>
            <a:r>
              <a:t>  • Role Assignments: 1,031</a:t>
            </a:r>
          </a:p>
          <a:p>
            <a:pPr>
              <a:defRPr sz="1600"/>
            </a:pPr>
            <a:r>
              <a:t>  • Virtual Networks: 321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Graph After Scale-Up Operation</a:t>
            </a:r>
          </a:p>
        </p:txBody>
      </p:sp>
      <p:pic>
        <p:nvPicPr>
          <p:cNvPr id="3" name="Picture 2" descr="CURRENT-87k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9,150 nodes after scale-up operation (+70% from baseline)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Navigate to Scale Operations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Select template-based scaling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Scenario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Choose hub-spoke topology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Adjust intensity (1x-10x)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Preview then execute operation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Clean, validate, analyze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$ atg scale-stats --tenant-id &lt;ID&gt;</a:t>
            </a:r>
          </a:p>
          <a:p>
            <a:pPr>
              <a:defRPr sz="1600"/>
            </a:pPr>
            <a:r>
              <a:t>   → Check current graph state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scale-up scenario --scenario hub-spoke --spokes 5</a:t>
            </a:r>
          </a:p>
          <a:p>
            <a:pPr>
              <a:defRPr sz="1600"/>
            </a:pPr>
            <a:r>
              <a:t>   → Generate hub-spoke topology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scale-validate --check all</a:t>
            </a:r>
          </a:p>
          <a:p>
            <a:pPr>
              <a:defRPr sz="1600"/>
            </a:pPr>
            <a:r>
              <a:t>   → Verify graph integrity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scale-stats --detailed</a:t>
            </a:r>
          </a:p>
          <a:p>
            <a:pPr>
              <a:defRPr sz="1600"/>
            </a:pPr>
            <a:r>
              <a:t>   → View updated statistics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Comprehensive testing revealed real implementation issues: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Bugs Found and Fixed:</a:t>
            </a:r>
          </a:p>
          <a:p>
            <a:pPr>
              <a:defRPr sz="1600"/>
            </a:pPr>
            <a:r>
              <a:t>  • Max concurrency override (always set to 5) - FIXED</a:t>
            </a:r>
          </a:p>
          <a:p>
            <a:pPr>
              <a:defRPr sz="1600"/>
            </a:pPr>
            <a:r>
              <a:t>  • Forest Fire library bug - Custom implementation</a:t>
            </a:r>
          </a:p>
          <a:p>
            <a:pPr>
              <a:defRPr sz="1600"/>
            </a:pPr>
            <a:r>
              <a:t>  • Random Walk sparse graph - Custom implementation</a:t>
            </a:r>
          </a:p>
          <a:p>
            <a:pPr>
              <a:defRPr sz="1600"/>
            </a:pPr>
            <a:r>
              <a:t>  • Pattern criteria missing - Proper mapping added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Testing Infrastructure:</a:t>
            </a:r>
          </a:p>
          <a:p>
            <a:pPr>
              <a:defRPr sz="1600"/>
            </a:pPr>
            <a:r>
              <a:t>  • 534 unit/integration/E2E tests</a:t>
            </a:r>
          </a:p>
          <a:p>
            <a:pPr>
              <a:defRPr sz="1600"/>
            </a:pPr>
            <a:r>
              <a:t>  • Real tenant data (DefenderATEVET17)</a:t>
            </a:r>
          </a:p>
          <a:p>
            <a:pPr>
              <a:defRPr sz="1600"/>
            </a:pPr>
            <a:r>
              <a:t>  • Pattern-based sampling proven effective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Scale-Up:</a:t>
            </a:r>
          </a:p>
          <a:p>
            <a:pPr>
              <a:defRPr sz="1600"/>
            </a:pPr>
            <a:r>
              <a:t>  • Template-based generation: 3,608 resources created</a:t>
            </a:r>
          </a:p>
          <a:p>
            <a:pPr>
              <a:defRPr sz="1600"/>
            </a:pPr>
            <a:r>
              <a:t>  • Scaled from 5,386 to 9,150 nodes (+70%)</a:t>
            </a:r>
          </a:p>
          <a:p>
            <a:pPr>
              <a:defRPr sz="1600"/>
            </a:pPr>
            <a:r>
              <a:t>  • Relationships increased from 180 to 368 (+104%)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Scale-Down:</a:t>
            </a:r>
          </a:p>
          <a:p>
            <a:pPr>
              <a:defRPr sz="1600"/>
            </a:pPr>
            <a:r>
              <a:t>  • Forest Fire: 915 nodes (10%) in 0.10s</a:t>
            </a:r>
          </a:p>
          <a:p>
            <a:pPr>
              <a:defRPr sz="1600"/>
            </a:pPr>
            <a:r>
              <a:t>  • Random Walk: 915 nodes (10%) in 0.34s</a:t>
            </a:r>
          </a:p>
          <a:p>
            <a:pPr>
              <a:defRPr sz="1600"/>
            </a:pPr>
            <a:r>
              <a:t>  • Pattern-based: 145 VMs matched successfully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Visualization:</a:t>
            </a:r>
          </a:p>
          <a:p>
            <a:pPr>
              <a:defRPr sz="1600"/>
            </a:pPr>
            <a:r>
              <a:t>  • Synthetic node highlighting implemented</a:t>
            </a:r>
          </a:p>
          <a:p>
            <a:pPr>
              <a:defRPr sz="1600"/>
            </a:pPr>
            <a:r>
              <a:t>  • Orange color, dashed borders, 'S' indicator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provides working scale operations functionality.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Key Learnings:</a:t>
            </a:r>
          </a:p>
          <a:p>
            <a:pPr>
              <a:defRPr sz="1600"/>
            </a:pPr>
            <a:r>
              <a:t>  • End-to-end testing essential for finding real bugs</a:t>
            </a:r>
          </a:p>
          <a:p>
            <a:pPr>
              <a:defRPr sz="1600"/>
            </a:pPr>
            <a:r>
              <a:t>  • Graph topology impacts algorithm selection</a:t>
            </a:r>
          </a:p>
          <a:p>
            <a:pPr>
              <a:defRPr sz="1600"/>
            </a:pPr>
            <a:r>
              <a:t>  • Pattern-based approaches work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establishes a foundation with opportunities for</a:t>
            </a:r>
          </a:p>
          <a:p>
            <a:pPr>
              <a:defRPr sz="1600"/>
            </a:pPr>
            <a:r>
              <a:t>continued refinement based on deployment experience.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Feedback and real-world usage will guide improvements.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